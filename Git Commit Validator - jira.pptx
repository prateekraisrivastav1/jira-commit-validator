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66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AIST Git Validator: a CLI-based guardrail that validates Jira references in Git commit messages. The two examples on the right preview the core behavior: a commit with a Jira key succeeds, a commit without one is rejected.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tooling, it is consistency. When the Jira reference is left to individual discipline, traceability erodes. The guardrail moves the rule into the commit workflow.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simple and testable. Outcomes: the commit is allowed when the issue exists, rejected when the key is missing or the issue does not exist, and credential problems produce a clear, actionable error. Jira connectivity and timeouts are handled gracefully.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developer runs git commit, Git invokes the commit-msg hook, the hook calls aistctl validate-commit, which checks credentials and issue existence with Jira, and returns allow or reject. Because this happens in the commit-msg hook, a rejected commit is never created.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validation scope is issue existence. The CLI distinguishes five failure conditions so developers get an actionable message for each, and connectivity or timeout problems are handled gracefully rather than reported as a generic error.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command set follows a conventional aistctl &lt;command&gt; [flags] structure. Setup is guided end to end: the CLI opens the Atlassian API token page, the user pastes the token into a hidden prompt, credentials are validated before being saved, the expiration date is recorded, and the global hook is installed. No .env editing is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lives in C:\ProgramData\AIST\git-hooks and Git is pointed at it with git config --global core.hooksPath. Enforcement is local and happens before the commit is created.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posture: the MSI never contains customer credentials; configuration is created locally after setup. The token is entered through hidden input, validated before saving, and renewal is safe: a failed, cancelled, or invalid renewal leaves the existing valid token intact. aistctl status gives operational visibility, including token expiration, without exposing the token.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scenarios. 1) A valid issue key: commit succeeds. 2) A key that does not exist in Jira: rejected with a clear message. 3) No key at all: rejected with the expected format. 4) Invalid or revoked token: the developer sees an actionable message pointing to aistctl renew. All keys shown are generic examples.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journey is: download the MSI, install, run aistctl setup, configure Jira, install the global Git hook, and start committing. The MSI installs the standalone aistctl executable under Program Files, adds it to the system PATH, does not require a Python install, and does not include any customer credentials.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deliberately simple. Everything on the left runs on the developer machine: Git invokes the global commit-msg hook, which calls aistctl, which reads the local AIST configuration. aistctl then talks directly to the Jira REST API to validate credentials and issue existence. There is no intermediate service.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narrative: Jira traceability becomes a guardrail in the developer workflow rather than a manual process.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5.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960120"/>
            <a:ext cx="4572000" cy="228600"/>
          </a:xfrm>
          <a:prstGeom prst="rect">
            <a:avLst/>
          </a:prstGeom>
          <a:noFill/>
          <a:ln/>
        </p:spPr>
        <p:txBody>
          <a:bodyPr wrap="square" lIns="0" tIns="0" rIns="0" bIns="0" rtlCol="0" anchor="t"/>
          <a:lstStyle/>
          <a:p>
            <a:pPr marL="0" indent="0">
              <a:buNone/>
            </a:pPr>
            <a:r>
              <a:rPr lang="en-US" sz="1200" b="1" kern="0" spc="300" dirty="0">
                <a:solidFill>
                  <a:srgbClr val="5EEAD4"/>
                </a:solidFill>
                <a:latin typeface="Calibri" pitchFamily="34" charset="0"/>
                <a:ea typeface="Calibri" pitchFamily="34" charset="-122"/>
                <a:cs typeface="Calibri" pitchFamily="34" charset="-120"/>
              </a:rPr>
              <a:t>SOLUTION PROPOSAL</a:t>
            </a:r>
            <a:endParaRPr lang="en-US" sz="1200" dirty="0"/>
          </a:p>
        </p:txBody>
      </p:sp>
      <p:sp>
        <p:nvSpPr>
          <p:cNvPr id="3" name="Text 1"/>
          <p:cNvSpPr txBox="1"/>
          <p:nvPr/>
        </p:nvSpPr>
        <p:spPr>
          <a:xfrm>
            <a:off x="548640" y="1280160"/>
            <a:ext cx="4572000" cy="1463040"/>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Git commit</a:t>
            </a:r>
            <a:endParaRPr lang="en-US" sz="4800" dirty="0"/>
          </a:p>
          <a:p>
            <a:pPr marL="0" indent="0">
              <a:buNone/>
            </a:pPr>
            <a:r>
              <a:rPr lang="en-US" sz="4800" b="1" dirty="0">
                <a:solidFill>
                  <a:srgbClr val="FFFFFF"/>
                </a:solidFill>
                <a:latin typeface="Calibri" pitchFamily="34" charset="0"/>
                <a:ea typeface="Calibri" pitchFamily="34" charset="-122"/>
                <a:cs typeface="Calibri" pitchFamily="34" charset="-120"/>
              </a:rPr>
              <a:t>Validator</a:t>
            </a:r>
            <a:endParaRPr lang="en-US" sz="4800" dirty="0"/>
          </a:p>
        </p:txBody>
      </p:sp>
      <p:sp>
        <p:nvSpPr>
          <p:cNvPr id="4" name="Text 2"/>
          <p:cNvSpPr txBox="1"/>
          <p:nvPr/>
        </p:nvSpPr>
        <p:spPr>
          <a:xfrm>
            <a:off x="548640" y="2926080"/>
            <a:ext cx="4572000" cy="365760"/>
          </a:xfrm>
          <a:prstGeom prst="rect">
            <a:avLst/>
          </a:prstGeom>
          <a:noFill/>
          <a:ln/>
        </p:spPr>
        <p:txBody>
          <a:bodyPr wrap="square" lIns="0" tIns="0" rIns="0" bIns="0" rtlCol="0" anchor="t"/>
          <a:lstStyle/>
          <a:p>
            <a:pPr marL="0" indent="0">
              <a:buNone/>
            </a:pPr>
            <a:r>
              <a:rPr lang="en-US" sz="2000" dirty="0">
                <a:solidFill>
                  <a:srgbClr val="5EEAD4"/>
                </a:solidFill>
                <a:latin typeface="Calibri" pitchFamily="34" charset="0"/>
                <a:ea typeface="Calibri" pitchFamily="34" charset="-122"/>
                <a:cs typeface="Calibri" pitchFamily="34" charset="-120"/>
              </a:rPr>
              <a:t>Jira Commit Guardrail Enforcement</a:t>
            </a:r>
            <a:endParaRPr lang="en-US" sz="2000" dirty="0"/>
          </a:p>
        </p:txBody>
      </p:sp>
      <p:sp>
        <p:nvSpPr>
          <p:cNvPr id="5" name="Text 3"/>
          <p:cNvSpPr txBox="1"/>
          <p:nvPr/>
        </p:nvSpPr>
        <p:spPr>
          <a:xfrm>
            <a:off x="548640" y="3383280"/>
            <a:ext cx="4572000" cy="274320"/>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Technical architecture overview</a:t>
            </a:r>
            <a:endParaRPr lang="en-US" sz="1300" dirty="0"/>
          </a:p>
        </p:txBody>
      </p:sp>
      <p:pic>
        <p:nvPicPr>
          <p:cNvPr id="6" name="Image 0" descr="preencoded.png"/>
          <p:cNvPicPr>
            <a:picLocks noChangeAspect="1"/>
          </p:cNvPicPr>
          <p:nvPr/>
        </p:nvPicPr>
        <p:blipFill>
          <a:blip r:embed="rId3"/>
          <a:stretch>
            <a:fillRect/>
          </a:stretch>
        </p:blipFill>
        <p:spPr>
          <a:xfrm>
            <a:off x="548640" y="4251960"/>
            <a:ext cx="256032" cy="256032"/>
          </a:xfrm>
          <a:prstGeom prst="rect">
            <a:avLst/>
          </a:prstGeom>
        </p:spPr>
      </p:pic>
      <p:pic>
        <p:nvPicPr>
          <p:cNvPr id="7" name="Image 1" descr="preencoded.png"/>
          <p:cNvPicPr>
            <a:picLocks noChangeAspect="1"/>
          </p:cNvPicPr>
          <p:nvPr/>
        </p:nvPicPr>
        <p:blipFill>
          <a:blip r:embed="rId4"/>
          <a:stretch>
            <a:fillRect/>
          </a:stretch>
        </p:blipFill>
        <p:spPr>
          <a:xfrm>
            <a:off x="1005840" y="4251960"/>
            <a:ext cx="256032" cy="256032"/>
          </a:xfrm>
          <a:prstGeom prst="rect">
            <a:avLst/>
          </a:prstGeom>
        </p:spPr>
      </p:pic>
      <p:pic>
        <p:nvPicPr>
          <p:cNvPr id="8" name="Image 2" descr="preencoded.png"/>
          <p:cNvPicPr>
            <a:picLocks noChangeAspect="1"/>
          </p:cNvPicPr>
          <p:nvPr/>
        </p:nvPicPr>
        <p:blipFill>
          <a:blip r:embed="rId5"/>
          <a:stretch>
            <a:fillRect/>
          </a:stretch>
        </p:blipFill>
        <p:spPr>
          <a:xfrm>
            <a:off x="1463040" y="4251960"/>
            <a:ext cx="256032" cy="256032"/>
          </a:xfrm>
          <a:prstGeom prst="rect">
            <a:avLst/>
          </a:prstGeom>
        </p:spPr>
      </p:pic>
      <p:pic>
        <p:nvPicPr>
          <p:cNvPr id="9" name="Image 3" descr="preencoded.png"/>
          <p:cNvPicPr>
            <a:picLocks noChangeAspect="1"/>
          </p:cNvPicPr>
          <p:nvPr/>
        </p:nvPicPr>
        <p:blipFill>
          <a:blip r:embed="rId6"/>
          <a:stretch>
            <a:fillRect/>
          </a:stretch>
        </p:blipFill>
        <p:spPr>
          <a:xfrm>
            <a:off x="1920240" y="4251960"/>
            <a:ext cx="256032" cy="256032"/>
          </a:xfrm>
          <a:prstGeom prst="rect">
            <a:avLst/>
          </a:prstGeom>
        </p:spPr>
      </p:pic>
      <p:sp>
        <p:nvSpPr>
          <p:cNvPr id="10" name="Shape 4"/>
          <p:cNvSpPr/>
          <p:nvPr/>
        </p:nvSpPr>
        <p:spPr>
          <a:xfrm>
            <a:off x="5349240" y="1234440"/>
            <a:ext cx="3337560" cy="2697480"/>
          </a:xfrm>
          <a:prstGeom prst="roundRect">
            <a:avLst>
              <a:gd name="adj" fmla="val 3390"/>
            </a:avLst>
          </a:prstGeom>
          <a:solidFill>
            <a:srgbClr val="12305A"/>
          </a:solidFill>
          <a:ln w="9525">
            <a:solidFill>
              <a:srgbClr val="1F4275"/>
            </a:solidFill>
            <a:prstDash val="solid"/>
          </a:ln>
        </p:spPr>
        <p:txBody>
          <a:bodyPr/>
          <a:lstStyle/>
          <a:p>
            <a:endParaRPr lang="en-US"/>
          </a:p>
        </p:txBody>
      </p:sp>
      <p:sp>
        <p:nvSpPr>
          <p:cNvPr id="11" name="Shape 5"/>
          <p:cNvSpPr/>
          <p:nvPr/>
        </p:nvSpPr>
        <p:spPr>
          <a:xfrm>
            <a:off x="5532120" y="1417320"/>
            <a:ext cx="100584" cy="100584"/>
          </a:xfrm>
          <a:prstGeom prst="ellipse">
            <a:avLst/>
          </a:prstGeom>
          <a:solidFill>
            <a:srgbClr val="F87171"/>
          </a:solidFill>
          <a:ln w="12700">
            <a:solidFill>
              <a:srgbClr val="F87171"/>
            </a:solidFill>
            <a:prstDash val="solid"/>
          </a:ln>
        </p:spPr>
        <p:txBody>
          <a:bodyPr/>
          <a:lstStyle/>
          <a:p>
            <a:endParaRPr lang="en-US"/>
          </a:p>
        </p:txBody>
      </p:sp>
      <p:sp>
        <p:nvSpPr>
          <p:cNvPr id="12" name="Shape 6"/>
          <p:cNvSpPr/>
          <p:nvPr/>
        </p:nvSpPr>
        <p:spPr>
          <a:xfrm>
            <a:off x="5715000" y="1417320"/>
            <a:ext cx="100584" cy="100584"/>
          </a:xfrm>
          <a:prstGeom prst="ellipse">
            <a:avLst/>
          </a:prstGeom>
          <a:solidFill>
            <a:srgbClr val="FBBF24"/>
          </a:solidFill>
          <a:ln w="12700">
            <a:solidFill>
              <a:srgbClr val="FBBF24"/>
            </a:solidFill>
            <a:prstDash val="solid"/>
          </a:ln>
        </p:spPr>
        <p:txBody>
          <a:bodyPr/>
          <a:lstStyle/>
          <a:p>
            <a:endParaRPr lang="en-US"/>
          </a:p>
        </p:txBody>
      </p:sp>
      <p:sp>
        <p:nvSpPr>
          <p:cNvPr id="13" name="Shape 7"/>
          <p:cNvSpPr/>
          <p:nvPr/>
        </p:nvSpPr>
        <p:spPr>
          <a:xfrm>
            <a:off x="5897880" y="1417320"/>
            <a:ext cx="100584" cy="100584"/>
          </a:xfrm>
          <a:prstGeom prst="ellipse">
            <a:avLst/>
          </a:prstGeom>
          <a:solidFill>
            <a:srgbClr val="4ADE80"/>
          </a:solidFill>
          <a:ln w="12700">
            <a:solidFill>
              <a:srgbClr val="4ADE80"/>
            </a:solidFill>
            <a:prstDash val="solid"/>
          </a:ln>
        </p:spPr>
        <p:txBody>
          <a:bodyPr/>
          <a:lstStyle/>
          <a:p>
            <a:endParaRPr lang="en-US"/>
          </a:p>
        </p:txBody>
      </p:sp>
      <p:sp>
        <p:nvSpPr>
          <p:cNvPr id="14" name="Text 8"/>
          <p:cNvSpPr txBox="1"/>
          <p:nvPr/>
        </p:nvSpPr>
        <p:spPr>
          <a:xfrm>
            <a:off x="5532120" y="1783080"/>
            <a:ext cx="3017520" cy="2011680"/>
          </a:xfrm>
          <a:prstGeom prst="rect">
            <a:avLst/>
          </a:prstGeom>
          <a:noFill/>
          <a:ln/>
        </p:spPr>
        <p:txBody>
          <a:bodyPr wrap="square" lIns="0" tIns="0" rIns="0" bIns="0" rtlCol="0" anchor="t"/>
          <a:lstStyle/>
          <a:p>
            <a:pPr marL="0" indent="0">
              <a:buNone/>
            </a:pPr>
            <a:r>
              <a:rPr lang="en-US" sz="900" dirty="0">
                <a:solidFill>
                  <a:srgbClr val="FFFFFF"/>
                </a:solidFill>
                <a:latin typeface="Courier New" pitchFamily="34" charset="0"/>
                <a:ea typeface="Courier New" pitchFamily="34" charset="-122"/>
                <a:cs typeface="Courier New" pitchFamily="34" charset="-120"/>
              </a:rPr>
              <a:t>$ git commit -m "AIST-1234 Add validation"</a:t>
            </a:r>
            <a:endParaRPr lang="en-US" sz="900" dirty="0"/>
          </a:p>
          <a:p>
            <a:pPr marL="0" indent="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buNone/>
            </a:pPr>
            <a:r>
              <a:rPr lang="en-US" sz="900" b="1" dirty="0">
                <a:solidFill>
                  <a:srgbClr val="4ADE80"/>
                </a:solidFill>
                <a:latin typeface="Courier New" pitchFamily="34" charset="0"/>
                <a:ea typeface="Courier New" pitchFamily="34" charset="-122"/>
                <a:cs typeface="Courier New" pitchFamily="34" charset="-120"/>
              </a:rPr>
              <a:t>Commit succeeds.</a:t>
            </a:r>
            <a:endParaRPr lang="en-US" sz="900" dirty="0"/>
          </a:p>
          <a:p>
            <a:pPr marL="0" indent="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FFFFF"/>
                </a:solidFill>
                <a:latin typeface="Courier New" pitchFamily="34" charset="0"/>
                <a:ea typeface="Courier New" pitchFamily="34" charset="-122"/>
                <a:cs typeface="Courier New" pitchFamily="34" charset="-120"/>
              </a:rPr>
              <a:t>$ git commit -m "Update validation logic"</a:t>
            </a:r>
            <a:endParaRPr lang="en-US" sz="900" dirty="0"/>
          </a:p>
          <a:p>
            <a:pPr marL="0" indent="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buNone/>
            </a:pPr>
            <a:r>
              <a:rPr lang="en-US" sz="900" b="1" dirty="0">
                <a:solidFill>
                  <a:srgbClr val="F87171"/>
                </a:solidFill>
                <a:latin typeface="Courier New" pitchFamily="34" charset="0"/>
                <a:ea typeface="Courier New" pitchFamily="34" charset="-122"/>
                <a:cs typeface="Courier New" pitchFamily="34" charset="-120"/>
              </a:rPr>
              <a:t>Commit rejected.</a:t>
            </a:r>
            <a:endParaRPr lang="en-US" sz="900" dirty="0"/>
          </a:p>
          <a:p>
            <a:pPr marL="0" indent="0">
              <a:buNone/>
            </a:pPr>
            <a:r>
              <a:rPr lang="en-US" sz="900" dirty="0">
                <a:solidFill>
                  <a:srgbClr val="94A3B8"/>
                </a:solidFill>
                <a:latin typeface="Courier New" pitchFamily="34" charset="0"/>
                <a:ea typeface="Courier New" pitchFamily="34" charset="-122"/>
                <a:cs typeface="Courier New" pitchFamily="34" charset="-120"/>
              </a:rPr>
              <a:t>Commit message must contain a Jira</a:t>
            </a:r>
            <a:endParaRPr lang="en-US" sz="900" dirty="0"/>
          </a:p>
          <a:p>
            <a:pPr marL="0" indent="0">
              <a:buNone/>
            </a:pPr>
            <a:r>
              <a:rPr lang="en-US" sz="900" dirty="0">
                <a:solidFill>
                  <a:srgbClr val="94A3B8"/>
                </a:solidFill>
                <a:latin typeface="Courier New" pitchFamily="34" charset="0"/>
                <a:ea typeface="Courier New" pitchFamily="34" charset="-122"/>
                <a:cs typeface="Courier New" pitchFamily="34" charset="-120"/>
              </a:rPr>
              <a:t>issue key in the format AIST-1234.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Why This Guardrail?</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457200" y="1234440"/>
            <a:ext cx="8229600" cy="320040"/>
          </a:xfrm>
          <a:prstGeom prst="rect">
            <a:avLst/>
          </a:prstGeom>
          <a:noFill/>
          <a:ln/>
        </p:spPr>
        <p:txBody>
          <a:bodyPr wrap="square" lIns="0" tIns="0" rIns="0" bIns="0" rtlCol="0" anchor="t"/>
          <a:lstStyle/>
          <a:p>
            <a:pPr marL="0" indent="0">
              <a:buNone/>
            </a:pPr>
            <a:r>
              <a:rPr lang="en-US" sz="1500" dirty="0">
                <a:solidFill>
                  <a:srgbClr val="5B6B82"/>
                </a:solidFill>
                <a:latin typeface="Calibri" pitchFamily="34" charset="0"/>
                <a:ea typeface="Calibri" pitchFamily="34" charset="-122"/>
                <a:cs typeface="Calibri" pitchFamily="34" charset="-120"/>
              </a:rPr>
              <a:t>Commits without a traceable Jira work item weaken the link between code and planned work.</a:t>
            </a:r>
            <a:endParaRPr lang="en-US" sz="1500" dirty="0"/>
          </a:p>
        </p:txBody>
      </p:sp>
      <p:sp>
        <p:nvSpPr>
          <p:cNvPr id="7" name="Shape 5"/>
          <p:cNvSpPr/>
          <p:nvPr/>
        </p:nvSpPr>
        <p:spPr>
          <a:xfrm>
            <a:off x="457200" y="1783080"/>
            <a:ext cx="2651760" cy="1920240"/>
          </a:xfrm>
          <a:prstGeom prst="roundRect">
            <a:avLst>
              <a:gd name="adj" fmla="val 3810"/>
            </a:avLst>
          </a:prstGeom>
          <a:solidFill>
            <a:srgbClr val="F4F7FB"/>
          </a:solidFill>
          <a:ln w="9525">
            <a:solidFill>
              <a:srgbClr val="D5DDE8"/>
            </a:solidFill>
            <a:prstDash val="solid"/>
          </a:ln>
        </p:spPr>
        <p:txBody>
          <a:bodyPr/>
          <a:lstStyle/>
          <a:p>
            <a:endParaRPr lang="en-US"/>
          </a:p>
        </p:txBody>
      </p:sp>
      <p:sp>
        <p:nvSpPr>
          <p:cNvPr id="8" name="Shape 6"/>
          <p:cNvSpPr/>
          <p:nvPr/>
        </p:nvSpPr>
        <p:spPr>
          <a:xfrm>
            <a:off x="685800" y="1965960"/>
            <a:ext cx="548640" cy="548640"/>
          </a:xfrm>
          <a:prstGeom prst="ellipse">
            <a:avLst/>
          </a:prstGeom>
          <a:solidFill>
            <a:srgbClr val="0E9F9A"/>
          </a:solidFill>
          <a:ln w="12700">
            <a:solidFill>
              <a:srgbClr val="0E9F9A"/>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822960" y="2103120"/>
            <a:ext cx="274320" cy="274320"/>
          </a:xfrm>
          <a:prstGeom prst="rect">
            <a:avLst/>
          </a:prstGeom>
        </p:spPr>
      </p:pic>
      <p:sp>
        <p:nvSpPr>
          <p:cNvPr id="10" name="Text 7"/>
          <p:cNvSpPr txBox="1"/>
          <p:nvPr/>
        </p:nvSpPr>
        <p:spPr>
          <a:xfrm>
            <a:off x="685800" y="2697480"/>
            <a:ext cx="2240280" cy="27432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Traceability</a:t>
            </a:r>
            <a:endParaRPr lang="en-US" sz="1600" dirty="0"/>
          </a:p>
        </p:txBody>
      </p:sp>
      <p:sp>
        <p:nvSpPr>
          <p:cNvPr id="11" name="Text 8"/>
          <p:cNvSpPr txBox="1"/>
          <p:nvPr/>
        </p:nvSpPr>
        <p:spPr>
          <a:xfrm>
            <a:off x="685800" y="3017520"/>
            <a:ext cx="2240280" cy="6400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Every change can be tied back to a Jira work item directly from the commit history.</a:t>
            </a:r>
            <a:endParaRPr lang="en-US" sz="1250" dirty="0"/>
          </a:p>
        </p:txBody>
      </p:sp>
      <p:sp>
        <p:nvSpPr>
          <p:cNvPr id="12" name="Shape 9"/>
          <p:cNvSpPr/>
          <p:nvPr/>
        </p:nvSpPr>
        <p:spPr>
          <a:xfrm>
            <a:off x="3246120" y="1783080"/>
            <a:ext cx="2651760" cy="1920240"/>
          </a:xfrm>
          <a:prstGeom prst="roundRect">
            <a:avLst>
              <a:gd name="adj" fmla="val 3810"/>
            </a:avLst>
          </a:prstGeom>
          <a:solidFill>
            <a:srgbClr val="F4F7FB"/>
          </a:solidFill>
          <a:ln w="9525">
            <a:solidFill>
              <a:srgbClr val="D5DDE8"/>
            </a:solidFill>
            <a:prstDash val="solid"/>
          </a:ln>
        </p:spPr>
        <p:txBody>
          <a:bodyPr/>
          <a:lstStyle/>
          <a:p>
            <a:endParaRPr lang="en-US"/>
          </a:p>
        </p:txBody>
      </p:sp>
      <p:sp>
        <p:nvSpPr>
          <p:cNvPr id="13" name="Shape 10"/>
          <p:cNvSpPr/>
          <p:nvPr/>
        </p:nvSpPr>
        <p:spPr>
          <a:xfrm>
            <a:off x="3474720" y="1965960"/>
            <a:ext cx="548640" cy="548640"/>
          </a:xfrm>
          <a:prstGeom prst="ellipse">
            <a:avLst/>
          </a:prstGeom>
          <a:solidFill>
            <a:srgbClr val="0E9F9A"/>
          </a:solidFill>
          <a:ln w="12700">
            <a:solidFill>
              <a:srgbClr val="0E9F9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611880" y="2103120"/>
            <a:ext cx="274320" cy="274320"/>
          </a:xfrm>
          <a:prstGeom prst="rect">
            <a:avLst/>
          </a:prstGeom>
        </p:spPr>
      </p:pic>
      <p:sp>
        <p:nvSpPr>
          <p:cNvPr id="15" name="Text 11"/>
          <p:cNvSpPr txBox="1"/>
          <p:nvPr/>
        </p:nvSpPr>
        <p:spPr>
          <a:xfrm>
            <a:off x="3474720" y="2697480"/>
            <a:ext cx="2240280" cy="27432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Engineering governance</a:t>
            </a:r>
            <a:endParaRPr lang="en-US" sz="1600" dirty="0"/>
          </a:p>
        </p:txBody>
      </p:sp>
      <p:sp>
        <p:nvSpPr>
          <p:cNvPr id="16" name="Text 12"/>
          <p:cNvSpPr txBox="1"/>
          <p:nvPr/>
        </p:nvSpPr>
        <p:spPr>
          <a:xfrm>
            <a:off x="3474720" y="3017520"/>
            <a:ext cx="2240280" cy="6400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The Jira reference rule is applied at commit time instead of depending on manual review.</a:t>
            </a:r>
            <a:endParaRPr lang="en-US" sz="1250" dirty="0"/>
          </a:p>
        </p:txBody>
      </p:sp>
      <p:sp>
        <p:nvSpPr>
          <p:cNvPr id="17" name="Shape 13"/>
          <p:cNvSpPr/>
          <p:nvPr/>
        </p:nvSpPr>
        <p:spPr>
          <a:xfrm>
            <a:off x="6035040" y="1783080"/>
            <a:ext cx="2651760" cy="1920240"/>
          </a:xfrm>
          <a:prstGeom prst="roundRect">
            <a:avLst>
              <a:gd name="adj" fmla="val 3810"/>
            </a:avLst>
          </a:prstGeom>
          <a:solidFill>
            <a:srgbClr val="F4F7FB"/>
          </a:solidFill>
          <a:ln w="9525">
            <a:solidFill>
              <a:srgbClr val="D5DDE8"/>
            </a:solidFill>
            <a:prstDash val="solid"/>
          </a:ln>
        </p:spPr>
        <p:txBody>
          <a:bodyPr/>
          <a:lstStyle/>
          <a:p>
            <a:endParaRPr lang="en-US"/>
          </a:p>
        </p:txBody>
      </p:sp>
      <p:sp>
        <p:nvSpPr>
          <p:cNvPr id="18" name="Shape 14"/>
          <p:cNvSpPr/>
          <p:nvPr/>
        </p:nvSpPr>
        <p:spPr>
          <a:xfrm>
            <a:off x="6263640" y="1965960"/>
            <a:ext cx="548640" cy="548640"/>
          </a:xfrm>
          <a:prstGeom prst="ellipse">
            <a:avLst/>
          </a:prstGeom>
          <a:solidFill>
            <a:srgbClr val="0E9F9A"/>
          </a:solidFill>
          <a:ln w="12700">
            <a:solidFill>
              <a:srgbClr val="0E9F9A"/>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400800" y="2103120"/>
            <a:ext cx="274320" cy="274320"/>
          </a:xfrm>
          <a:prstGeom prst="rect">
            <a:avLst/>
          </a:prstGeom>
        </p:spPr>
      </p:pic>
      <p:sp>
        <p:nvSpPr>
          <p:cNvPr id="20" name="Text 15"/>
          <p:cNvSpPr txBox="1"/>
          <p:nvPr/>
        </p:nvSpPr>
        <p:spPr>
          <a:xfrm>
            <a:off x="6263640" y="2697480"/>
            <a:ext cx="2240280" cy="27432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Consistent practices</a:t>
            </a:r>
            <a:endParaRPr lang="en-US" sz="1600" dirty="0"/>
          </a:p>
        </p:txBody>
      </p:sp>
      <p:sp>
        <p:nvSpPr>
          <p:cNvPr id="21" name="Text 16"/>
          <p:cNvSpPr txBox="1"/>
          <p:nvPr/>
        </p:nvSpPr>
        <p:spPr>
          <a:xfrm>
            <a:off x="6263640" y="3017520"/>
            <a:ext cx="2240280" cy="6400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Every developer follows the same convention with the same issue key format.</a:t>
            </a:r>
            <a:endParaRPr lang="en-US" sz="1250" dirty="0"/>
          </a:p>
        </p:txBody>
      </p:sp>
      <p:sp>
        <p:nvSpPr>
          <p:cNvPr id="22" name="Shape 17"/>
          <p:cNvSpPr/>
          <p:nvPr/>
        </p:nvSpPr>
        <p:spPr>
          <a:xfrm>
            <a:off x="457200" y="3931920"/>
            <a:ext cx="8229600" cy="594360"/>
          </a:xfrm>
          <a:prstGeom prst="roundRect">
            <a:avLst>
              <a:gd name="adj" fmla="val 12308"/>
            </a:avLst>
          </a:prstGeom>
          <a:solidFill>
            <a:srgbClr val="0B1F3A"/>
          </a:solidFill>
          <a:ln w="12700">
            <a:solidFill>
              <a:srgbClr val="0B1F3A"/>
            </a:solidFill>
            <a:prstDash val="solid"/>
          </a:ln>
        </p:spPr>
        <p:txBody>
          <a:bodyPr/>
          <a:lstStyle/>
          <a:p>
            <a:endParaRPr lang="en-US"/>
          </a:p>
        </p:txBody>
      </p:sp>
      <p:sp>
        <p:nvSpPr>
          <p:cNvPr id="23" name="Text 18"/>
          <p:cNvSpPr txBox="1"/>
          <p:nvPr/>
        </p:nvSpPr>
        <p:spPr>
          <a:xfrm>
            <a:off x="731520" y="3931920"/>
            <a:ext cx="7680960" cy="594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Make Jira traceability a development guardrail rather than a manual process.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Solution Overview</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371600"/>
            <a:ext cx="4023360" cy="3108960"/>
          </a:xfrm>
          <a:prstGeom prst="roundRect">
            <a:avLst>
              <a:gd name="adj" fmla="val 2941"/>
            </a:avLst>
          </a:prstGeom>
          <a:solidFill>
            <a:srgbClr val="0B1F3A"/>
          </a:solidFill>
          <a:ln w="12700">
            <a:solidFill>
              <a:srgbClr val="0B1F3A"/>
            </a:solidFill>
            <a:prstDash val="solid"/>
          </a:ln>
        </p:spPr>
        <p:txBody>
          <a:bodyPr/>
          <a:lstStyle/>
          <a:p>
            <a:endParaRPr lang="en-US"/>
          </a:p>
        </p:txBody>
      </p:sp>
      <p:sp>
        <p:nvSpPr>
          <p:cNvPr id="7" name="Text 5"/>
          <p:cNvSpPr txBox="1"/>
          <p:nvPr/>
        </p:nvSpPr>
        <p:spPr>
          <a:xfrm>
            <a:off x="777240" y="1645920"/>
            <a:ext cx="3383280" cy="228600"/>
          </a:xfrm>
          <a:prstGeom prst="rect">
            <a:avLst/>
          </a:prstGeom>
          <a:noFill/>
          <a:ln/>
        </p:spPr>
        <p:txBody>
          <a:bodyPr wrap="square" lIns="0" tIns="0" rIns="0" bIns="0" rtlCol="0" anchor="t"/>
          <a:lstStyle/>
          <a:p>
            <a:pPr marL="0" indent="0">
              <a:buNone/>
            </a:pPr>
            <a:r>
              <a:rPr lang="en-US" sz="1100" b="1" kern="0" spc="200" dirty="0">
                <a:solidFill>
                  <a:srgbClr val="5EEAD4"/>
                </a:solidFill>
                <a:latin typeface="Calibri" pitchFamily="34" charset="0"/>
                <a:ea typeface="Calibri" pitchFamily="34" charset="-122"/>
                <a:cs typeface="Calibri" pitchFamily="34" charset="-120"/>
              </a:rPr>
              <a:t>CORE RULE</a:t>
            </a:r>
            <a:endParaRPr lang="en-US" sz="1100" dirty="0"/>
          </a:p>
        </p:txBody>
      </p:sp>
      <p:sp>
        <p:nvSpPr>
          <p:cNvPr id="8" name="Text 6"/>
          <p:cNvSpPr txBox="1"/>
          <p:nvPr/>
        </p:nvSpPr>
        <p:spPr>
          <a:xfrm>
            <a:off x="777240" y="1920240"/>
            <a:ext cx="3383280" cy="77724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Every commit message must contain a Jira issue key</a:t>
            </a:r>
            <a:endParaRPr lang="en-US" sz="2000" dirty="0"/>
          </a:p>
        </p:txBody>
      </p:sp>
      <p:sp>
        <p:nvSpPr>
          <p:cNvPr id="9" name="Shape 7"/>
          <p:cNvSpPr/>
          <p:nvPr/>
        </p:nvSpPr>
        <p:spPr>
          <a:xfrm>
            <a:off x="777240" y="2788920"/>
            <a:ext cx="3383280" cy="685800"/>
          </a:xfrm>
          <a:prstGeom prst="roundRect">
            <a:avLst>
              <a:gd name="adj" fmla="val 10667"/>
            </a:avLst>
          </a:prstGeom>
          <a:solidFill>
            <a:srgbClr val="12305A"/>
          </a:solidFill>
          <a:ln w="9525">
            <a:solidFill>
              <a:srgbClr val="1F4275"/>
            </a:solidFill>
            <a:prstDash val="solid"/>
          </a:ln>
        </p:spPr>
        <p:txBody>
          <a:bodyPr/>
          <a:lstStyle/>
          <a:p>
            <a:endParaRPr lang="en-US"/>
          </a:p>
        </p:txBody>
      </p:sp>
      <p:sp>
        <p:nvSpPr>
          <p:cNvPr id="10" name="Text 8"/>
          <p:cNvSpPr txBox="1"/>
          <p:nvPr/>
        </p:nvSpPr>
        <p:spPr>
          <a:xfrm>
            <a:off x="777240" y="2788920"/>
            <a:ext cx="3383280" cy="685800"/>
          </a:xfrm>
          <a:prstGeom prst="rect">
            <a:avLst/>
          </a:prstGeom>
          <a:noFill/>
          <a:ln/>
        </p:spPr>
        <p:txBody>
          <a:bodyPr wrap="square" lIns="0" tIns="0" rIns="0" bIns="0" rtlCol="0" anchor="ctr"/>
          <a:lstStyle/>
          <a:p>
            <a:pPr marL="0" indent="0" algn="ctr">
              <a:buNone/>
            </a:pPr>
            <a:r>
              <a:rPr lang="en-US" sz="2800" b="1" dirty="0">
                <a:solidFill>
                  <a:srgbClr val="5EEAD4"/>
                </a:solidFill>
                <a:latin typeface="Courier New" pitchFamily="34" charset="0"/>
                <a:ea typeface="Courier New" pitchFamily="34" charset="-122"/>
                <a:cs typeface="Courier New" pitchFamily="34" charset="-120"/>
              </a:rPr>
              <a:t>AIST-1234</a:t>
            </a:r>
            <a:endParaRPr lang="en-US" sz="2800" dirty="0"/>
          </a:p>
        </p:txBody>
      </p:sp>
      <p:sp>
        <p:nvSpPr>
          <p:cNvPr id="11" name="Text 9"/>
          <p:cNvSpPr txBox="1"/>
          <p:nvPr/>
        </p:nvSpPr>
        <p:spPr>
          <a:xfrm>
            <a:off x="777240" y="3657600"/>
            <a:ext cx="3383280" cy="68580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AIST Git Validator is a CLI-based guardrail that validates Jira references in Git commit messages.</a:t>
            </a:r>
            <a:endParaRPr lang="en-US" sz="1200" dirty="0"/>
          </a:p>
        </p:txBody>
      </p:sp>
      <p:sp>
        <p:nvSpPr>
          <p:cNvPr id="12" name="Shape 10"/>
          <p:cNvSpPr/>
          <p:nvPr/>
        </p:nvSpPr>
        <p:spPr>
          <a:xfrm>
            <a:off x="4754880" y="1371600"/>
            <a:ext cx="3931920" cy="914400"/>
          </a:xfrm>
          <a:prstGeom prst="roundRect">
            <a:avLst>
              <a:gd name="adj" fmla="val 8000"/>
            </a:avLst>
          </a:prstGeom>
          <a:solidFill>
            <a:srgbClr val="F4F7FB"/>
          </a:solidFill>
          <a:ln w="9525">
            <a:solidFill>
              <a:srgbClr val="D5DDE8"/>
            </a:solidFill>
            <a:prstDash val="solid"/>
          </a:ln>
        </p:spPr>
        <p:txBody>
          <a:bodyPr/>
          <a:lstStyle/>
          <a:p>
            <a:endParaRPr lang="en-US"/>
          </a:p>
        </p:txBody>
      </p:sp>
      <p:sp>
        <p:nvSpPr>
          <p:cNvPr id="13" name="Shape 11"/>
          <p:cNvSpPr/>
          <p:nvPr/>
        </p:nvSpPr>
        <p:spPr>
          <a:xfrm>
            <a:off x="4937760" y="1600200"/>
            <a:ext cx="457200" cy="457200"/>
          </a:xfrm>
          <a:prstGeom prst="ellipse">
            <a:avLst/>
          </a:prstGeom>
          <a:solidFill>
            <a:srgbClr val="16A34A"/>
          </a:solidFill>
          <a:ln w="12700">
            <a:solidFill>
              <a:srgbClr val="16A34A"/>
            </a:solidFill>
            <a:prstDash val="solid"/>
          </a:ln>
        </p:spPr>
        <p:txBody>
          <a:bodyPr/>
          <a:lstStyle/>
          <a:p>
            <a:endParaRPr lang="en-US"/>
          </a:p>
        </p:txBody>
      </p:sp>
      <p:pic>
        <p:nvPicPr>
          <p:cNvPr id="14" name="Image 0" descr="preencoded.png"/>
          <p:cNvPicPr>
            <a:picLocks noChangeAspect="1"/>
          </p:cNvPicPr>
          <p:nvPr/>
        </p:nvPicPr>
        <p:blipFill>
          <a:blip r:embed="rId3"/>
          <a:stretch>
            <a:fillRect/>
          </a:stretch>
        </p:blipFill>
        <p:spPr>
          <a:xfrm>
            <a:off x="5052060" y="1714500"/>
            <a:ext cx="228600" cy="228600"/>
          </a:xfrm>
          <a:prstGeom prst="rect">
            <a:avLst/>
          </a:prstGeom>
        </p:spPr>
      </p:pic>
      <p:sp>
        <p:nvSpPr>
          <p:cNvPr id="15" name="Text 12"/>
          <p:cNvSpPr txBox="1"/>
          <p:nvPr/>
        </p:nvSpPr>
        <p:spPr>
          <a:xfrm>
            <a:off x="5623560" y="1508760"/>
            <a:ext cx="292608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Commit allowed</a:t>
            </a:r>
            <a:endParaRPr lang="en-US" sz="1500" dirty="0"/>
          </a:p>
        </p:txBody>
      </p:sp>
      <p:sp>
        <p:nvSpPr>
          <p:cNvPr id="16" name="Text 13"/>
          <p:cNvSpPr txBox="1"/>
          <p:nvPr/>
        </p:nvSpPr>
        <p:spPr>
          <a:xfrm>
            <a:off x="5623560" y="1801368"/>
            <a:ext cx="2926080" cy="41148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referenced Jira issue exists in Jira.</a:t>
            </a:r>
            <a:endParaRPr lang="en-US" sz="1200" dirty="0"/>
          </a:p>
        </p:txBody>
      </p:sp>
      <p:sp>
        <p:nvSpPr>
          <p:cNvPr id="17" name="Shape 14"/>
          <p:cNvSpPr/>
          <p:nvPr/>
        </p:nvSpPr>
        <p:spPr>
          <a:xfrm>
            <a:off x="4754880" y="2468880"/>
            <a:ext cx="3931920" cy="914400"/>
          </a:xfrm>
          <a:prstGeom prst="roundRect">
            <a:avLst>
              <a:gd name="adj" fmla="val 8000"/>
            </a:avLst>
          </a:prstGeom>
          <a:solidFill>
            <a:srgbClr val="F4F7FB"/>
          </a:solidFill>
          <a:ln w="9525">
            <a:solidFill>
              <a:srgbClr val="D5DDE8"/>
            </a:solidFill>
            <a:prstDash val="solid"/>
          </a:ln>
        </p:spPr>
        <p:txBody>
          <a:bodyPr/>
          <a:lstStyle/>
          <a:p>
            <a:endParaRPr lang="en-US"/>
          </a:p>
        </p:txBody>
      </p:sp>
      <p:sp>
        <p:nvSpPr>
          <p:cNvPr id="18" name="Shape 15"/>
          <p:cNvSpPr/>
          <p:nvPr/>
        </p:nvSpPr>
        <p:spPr>
          <a:xfrm>
            <a:off x="4937760" y="2697480"/>
            <a:ext cx="457200" cy="457200"/>
          </a:xfrm>
          <a:prstGeom prst="ellipse">
            <a:avLst/>
          </a:prstGeom>
          <a:solidFill>
            <a:srgbClr val="DC2626"/>
          </a:solidFill>
          <a:ln w="12700">
            <a:solidFill>
              <a:srgbClr val="DC2626"/>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5052060" y="2811780"/>
            <a:ext cx="228600" cy="228600"/>
          </a:xfrm>
          <a:prstGeom prst="rect">
            <a:avLst/>
          </a:prstGeom>
        </p:spPr>
      </p:pic>
      <p:sp>
        <p:nvSpPr>
          <p:cNvPr id="20" name="Text 16"/>
          <p:cNvSpPr txBox="1"/>
          <p:nvPr/>
        </p:nvSpPr>
        <p:spPr>
          <a:xfrm>
            <a:off x="5623560" y="2606040"/>
            <a:ext cx="292608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Commit rejected</a:t>
            </a:r>
            <a:endParaRPr lang="en-US" sz="1500" dirty="0"/>
          </a:p>
        </p:txBody>
      </p:sp>
      <p:sp>
        <p:nvSpPr>
          <p:cNvPr id="21" name="Text 17"/>
          <p:cNvSpPr txBox="1"/>
          <p:nvPr/>
        </p:nvSpPr>
        <p:spPr>
          <a:xfrm>
            <a:off x="5623560" y="2898648"/>
            <a:ext cx="2926080" cy="41148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issue key is missing, or the Jira issue does not exist.</a:t>
            </a:r>
            <a:endParaRPr lang="en-US" sz="1200" dirty="0"/>
          </a:p>
        </p:txBody>
      </p:sp>
      <p:sp>
        <p:nvSpPr>
          <p:cNvPr id="22" name="Shape 18"/>
          <p:cNvSpPr/>
          <p:nvPr/>
        </p:nvSpPr>
        <p:spPr>
          <a:xfrm>
            <a:off x="4754880" y="3566160"/>
            <a:ext cx="3931920" cy="914400"/>
          </a:xfrm>
          <a:prstGeom prst="roundRect">
            <a:avLst>
              <a:gd name="adj" fmla="val 8000"/>
            </a:avLst>
          </a:prstGeom>
          <a:solidFill>
            <a:srgbClr val="F4F7FB"/>
          </a:solidFill>
          <a:ln w="9525">
            <a:solidFill>
              <a:srgbClr val="D5DDE8"/>
            </a:solidFill>
            <a:prstDash val="solid"/>
          </a:ln>
        </p:spPr>
        <p:txBody>
          <a:bodyPr/>
          <a:lstStyle/>
          <a:p>
            <a:endParaRPr lang="en-US"/>
          </a:p>
        </p:txBody>
      </p:sp>
      <p:sp>
        <p:nvSpPr>
          <p:cNvPr id="23" name="Shape 19"/>
          <p:cNvSpPr/>
          <p:nvPr/>
        </p:nvSpPr>
        <p:spPr>
          <a:xfrm>
            <a:off x="4937760" y="3794760"/>
            <a:ext cx="457200" cy="457200"/>
          </a:xfrm>
          <a:prstGeom prst="ellipse">
            <a:avLst/>
          </a:prstGeom>
          <a:solidFill>
            <a:srgbClr val="D97706"/>
          </a:solidFill>
          <a:ln w="12700">
            <a:solidFill>
              <a:srgbClr val="D97706"/>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5052060" y="3909060"/>
            <a:ext cx="228600" cy="228600"/>
          </a:xfrm>
          <a:prstGeom prst="rect">
            <a:avLst/>
          </a:prstGeom>
        </p:spPr>
      </p:pic>
      <p:sp>
        <p:nvSpPr>
          <p:cNvPr id="25" name="Text 20"/>
          <p:cNvSpPr txBox="1"/>
          <p:nvPr/>
        </p:nvSpPr>
        <p:spPr>
          <a:xfrm>
            <a:off x="5623560" y="3703320"/>
            <a:ext cx="292608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Clear error message</a:t>
            </a:r>
            <a:endParaRPr lang="en-US" sz="1500" dirty="0"/>
          </a:p>
        </p:txBody>
      </p:sp>
      <p:sp>
        <p:nvSpPr>
          <p:cNvPr id="26" name="Text 21"/>
          <p:cNvSpPr txBox="1"/>
          <p:nvPr/>
        </p:nvSpPr>
        <p:spPr>
          <a:xfrm>
            <a:off x="5623560" y="3995928"/>
            <a:ext cx="2926080" cy="41148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Invalid or revoked credentials are reported with an actionable message.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WORKFLOW</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Developer Workflow</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457200" y="1371600"/>
            <a:ext cx="1417320" cy="1508760"/>
          </a:xfrm>
          <a:prstGeom prst="roundRect">
            <a:avLst>
              <a:gd name="adj" fmla="val 5161"/>
            </a:avLst>
          </a:prstGeom>
          <a:solidFill>
            <a:srgbClr val="F4F7FB"/>
          </a:solidFill>
          <a:ln w="9525">
            <a:solidFill>
              <a:srgbClr val="D5DDE8"/>
            </a:solidFill>
            <a:prstDash val="solid"/>
          </a:ln>
        </p:spPr>
        <p:txBody>
          <a:bodyPr/>
          <a:lstStyle/>
          <a:p>
            <a:endParaRPr lang="en-US"/>
          </a:p>
        </p:txBody>
      </p:sp>
      <p:sp>
        <p:nvSpPr>
          <p:cNvPr id="7" name="Shape 5"/>
          <p:cNvSpPr/>
          <p:nvPr/>
        </p:nvSpPr>
        <p:spPr>
          <a:xfrm>
            <a:off x="914400" y="150876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040130" y="1634490"/>
            <a:ext cx="251460" cy="251460"/>
          </a:xfrm>
          <a:prstGeom prst="rect">
            <a:avLst/>
          </a:prstGeom>
        </p:spPr>
      </p:pic>
      <p:sp>
        <p:nvSpPr>
          <p:cNvPr id="9" name="Text 6"/>
          <p:cNvSpPr txBox="1"/>
          <p:nvPr/>
        </p:nvSpPr>
        <p:spPr>
          <a:xfrm>
            <a:off x="530352" y="2103120"/>
            <a:ext cx="1271016" cy="256032"/>
          </a:xfrm>
          <a:prstGeom prst="rect">
            <a:avLst/>
          </a:prstGeom>
          <a:noFill/>
          <a:ln/>
        </p:spPr>
        <p:txBody>
          <a:bodyPr wrap="square" lIns="0" tIns="0" rIns="0" bIns="0" rtlCol="0" anchor="t"/>
          <a:lstStyle/>
          <a:p>
            <a:pPr marL="0" indent="0" algn="ctr">
              <a:buNone/>
            </a:pPr>
            <a:r>
              <a:rPr lang="en-US" sz="1400" b="1" dirty="0">
                <a:solidFill>
                  <a:srgbClr val="0B1F3A"/>
                </a:solidFill>
                <a:latin typeface="Calibri" pitchFamily="34" charset="0"/>
                <a:ea typeface="Calibri" pitchFamily="34" charset="-122"/>
                <a:cs typeface="Calibri" pitchFamily="34" charset="-120"/>
              </a:rPr>
              <a:t>Developer</a:t>
            </a:r>
            <a:endParaRPr lang="en-US" sz="1400" dirty="0"/>
          </a:p>
        </p:txBody>
      </p:sp>
      <p:sp>
        <p:nvSpPr>
          <p:cNvPr id="10" name="Text 7"/>
          <p:cNvSpPr txBox="1"/>
          <p:nvPr/>
        </p:nvSpPr>
        <p:spPr>
          <a:xfrm>
            <a:off x="548640" y="2377440"/>
            <a:ext cx="1234440" cy="411480"/>
          </a:xfrm>
          <a:prstGeom prst="rect">
            <a:avLst/>
          </a:prstGeom>
          <a:noFill/>
          <a:ln/>
        </p:spPr>
        <p:txBody>
          <a:bodyPr wrap="square" lIns="0" tIns="0" rIns="0" bIns="0" rtlCol="0" anchor="t"/>
          <a:lstStyle/>
          <a:p>
            <a:pPr marL="0" indent="0" algn="ctr">
              <a:buNone/>
            </a:pPr>
            <a:r>
              <a:rPr lang="en-US" sz="950" dirty="0">
                <a:solidFill>
                  <a:srgbClr val="5B6B82"/>
                </a:solidFill>
                <a:latin typeface="Courier New" pitchFamily="34" charset="0"/>
                <a:ea typeface="Courier New" pitchFamily="34" charset="-122"/>
                <a:cs typeface="Courier New" pitchFamily="34" charset="-120"/>
              </a:rPr>
              <a:t>git commit</a:t>
            </a:r>
            <a:endParaRPr lang="en-US" sz="950" dirty="0"/>
          </a:p>
        </p:txBody>
      </p:sp>
      <p:sp>
        <p:nvSpPr>
          <p:cNvPr id="11" name="Shape 8"/>
          <p:cNvSpPr/>
          <p:nvPr/>
        </p:nvSpPr>
        <p:spPr>
          <a:xfrm>
            <a:off x="1901952" y="2125980"/>
            <a:ext cx="219456" cy="0"/>
          </a:xfrm>
          <a:prstGeom prst="line">
            <a:avLst/>
          </a:prstGeom>
          <a:noFill/>
          <a:ln w="22225">
            <a:solidFill>
              <a:srgbClr val="0E9F9A"/>
            </a:solidFill>
            <a:prstDash val="solid"/>
            <a:tailEnd type="triangle"/>
          </a:ln>
        </p:spPr>
        <p:txBody>
          <a:bodyPr/>
          <a:lstStyle/>
          <a:p>
            <a:endParaRPr lang="en-US"/>
          </a:p>
        </p:txBody>
      </p:sp>
      <p:sp>
        <p:nvSpPr>
          <p:cNvPr id="12" name="Shape 9"/>
          <p:cNvSpPr/>
          <p:nvPr/>
        </p:nvSpPr>
        <p:spPr>
          <a:xfrm>
            <a:off x="2148840" y="1371600"/>
            <a:ext cx="1417320" cy="1508760"/>
          </a:xfrm>
          <a:prstGeom prst="roundRect">
            <a:avLst>
              <a:gd name="adj" fmla="val 5161"/>
            </a:avLst>
          </a:prstGeom>
          <a:solidFill>
            <a:srgbClr val="F4F7FB"/>
          </a:solidFill>
          <a:ln w="9525">
            <a:solidFill>
              <a:srgbClr val="D5DDE8"/>
            </a:solidFill>
            <a:prstDash val="solid"/>
          </a:ln>
        </p:spPr>
        <p:txBody>
          <a:bodyPr/>
          <a:lstStyle/>
          <a:p>
            <a:endParaRPr lang="en-US"/>
          </a:p>
        </p:txBody>
      </p:sp>
      <p:sp>
        <p:nvSpPr>
          <p:cNvPr id="13" name="Shape 10"/>
          <p:cNvSpPr/>
          <p:nvPr/>
        </p:nvSpPr>
        <p:spPr>
          <a:xfrm>
            <a:off x="2606040" y="150876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2731770" y="1634490"/>
            <a:ext cx="251460" cy="251460"/>
          </a:xfrm>
          <a:prstGeom prst="rect">
            <a:avLst/>
          </a:prstGeom>
        </p:spPr>
      </p:pic>
      <p:sp>
        <p:nvSpPr>
          <p:cNvPr id="15" name="Text 11"/>
          <p:cNvSpPr txBox="1"/>
          <p:nvPr/>
        </p:nvSpPr>
        <p:spPr>
          <a:xfrm>
            <a:off x="2221992" y="2103120"/>
            <a:ext cx="1271016" cy="256032"/>
          </a:xfrm>
          <a:prstGeom prst="rect">
            <a:avLst/>
          </a:prstGeom>
          <a:noFill/>
          <a:ln/>
        </p:spPr>
        <p:txBody>
          <a:bodyPr wrap="square" lIns="0" tIns="0" rIns="0" bIns="0" rtlCol="0" anchor="t"/>
          <a:lstStyle/>
          <a:p>
            <a:pPr marL="0" indent="0" algn="ctr">
              <a:buNone/>
            </a:pPr>
            <a:r>
              <a:rPr lang="en-US" sz="1400" b="1" dirty="0">
                <a:solidFill>
                  <a:srgbClr val="0B1F3A"/>
                </a:solidFill>
                <a:latin typeface="Calibri" pitchFamily="34" charset="0"/>
                <a:ea typeface="Calibri" pitchFamily="34" charset="-122"/>
                <a:cs typeface="Calibri" pitchFamily="34" charset="-120"/>
              </a:rPr>
              <a:t>Git</a:t>
            </a:r>
            <a:endParaRPr lang="en-US" sz="1400" dirty="0"/>
          </a:p>
        </p:txBody>
      </p:sp>
      <p:sp>
        <p:nvSpPr>
          <p:cNvPr id="16" name="Text 12"/>
          <p:cNvSpPr txBox="1"/>
          <p:nvPr/>
        </p:nvSpPr>
        <p:spPr>
          <a:xfrm>
            <a:off x="2240280" y="2377440"/>
            <a:ext cx="1234440" cy="411480"/>
          </a:xfrm>
          <a:prstGeom prst="rect">
            <a:avLst/>
          </a:prstGeom>
          <a:noFill/>
          <a:ln/>
        </p:spPr>
        <p:txBody>
          <a:bodyPr wrap="square" lIns="0" tIns="0" rIns="0" bIns="0" rtlCol="0" anchor="t"/>
          <a:lstStyle/>
          <a:p>
            <a:pPr marL="0" indent="0" algn="ctr">
              <a:buNone/>
            </a:pPr>
            <a:r>
              <a:rPr lang="en-US" sz="950" dirty="0">
                <a:solidFill>
                  <a:srgbClr val="5B6B82"/>
                </a:solidFill>
                <a:latin typeface="Courier New" pitchFamily="34" charset="0"/>
                <a:ea typeface="Courier New" pitchFamily="34" charset="-122"/>
                <a:cs typeface="Courier New" pitchFamily="34" charset="-120"/>
              </a:rPr>
              <a:t>commit-msg hook</a:t>
            </a:r>
            <a:endParaRPr lang="en-US" sz="950" dirty="0"/>
          </a:p>
        </p:txBody>
      </p:sp>
      <p:sp>
        <p:nvSpPr>
          <p:cNvPr id="17" name="Shape 13"/>
          <p:cNvSpPr/>
          <p:nvPr/>
        </p:nvSpPr>
        <p:spPr>
          <a:xfrm>
            <a:off x="3593592" y="2125980"/>
            <a:ext cx="219456" cy="0"/>
          </a:xfrm>
          <a:prstGeom prst="line">
            <a:avLst/>
          </a:prstGeom>
          <a:noFill/>
          <a:ln w="22225">
            <a:solidFill>
              <a:srgbClr val="0E9F9A"/>
            </a:solidFill>
            <a:prstDash val="solid"/>
            <a:tailEnd type="triangle"/>
          </a:ln>
        </p:spPr>
        <p:txBody>
          <a:bodyPr/>
          <a:lstStyle/>
          <a:p>
            <a:endParaRPr lang="en-US"/>
          </a:p>
        </p:txBody>
      </p:sp>
      <p:sp>
        <p:nvSpPr>
          <p:cNvPr id="18" name="Shape 14"/>
          <p:cNvSpPr/>
          <p:nvPr/>
        </p:nvSpPr>
        <p:spPr>
          <a:xfrm>
            <a:off x="3840480" y="1371600"/>
            <a:ext cx="1417320" cy="1508760"/>
          </a:xfrm>
          <a:prstGeom prst="roundRect">
            <a:avLst>
              <a:gd name="adj" fmla="val 5161"/>
            </a:avLst>
          </a:prstGeom>
          <a:solidFill>
            <a:srgbClr val="F4F7FB"/>
          </a:solidFill>
          <a:ln w="9525">
            <a:solidFill>
              <a:srgbClr val="D5DDE8"/>
            </a:solidFill>
            <a:prstDash val="solid"/>
          </a:ln>
        </p:spPr>
        <p:txBody>
          <a:bodyPr/>
          <a:lstStyle/>
          <a:p>
            <a:endParaRPr lang="en-US"/>
          </a:p>
        </p:txBody>
      </p:sp>
      <p:sp>
        <p:nvSpPr>
          <p:cNvPr id="19" name="Shape 15"/>
          <p:cNvSpPr/>
          <p:nvPr/>
        </p:nvSpPr>
        <p:spPr>
          <a:xfrm>
            <a:off x="4297680" y="150876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4423410" y="1634490"/>
            <a:ext cx="251460" cy="251460"/>
          </a:xfrm>
          <a:prstGeom prst="rect">
            <a:avLst/>
          </a:prstGeom>
        </p:spPr>
      </p:pic>
      <p:sp>
        <p:nvSpPr>
          <p:cNvPr id="21" name="Text 16"/>
          <p:cNvSpPr txBox="1"/>
          <p:nvPr/>
        </p:nvSpPr>
        <p:spPr>
          <a:xfrm>
            <a:off x="3913632" y="2103120"/>
            <a:ext cx="1271016" cy="256032"/>
          </a:xfrm>
          <a:prstGeom prst="rect">
            <a:avLst/>
          </a:prstGeom>
          <a:noFill/>
          <a:ln/>
        </p:spPr>
        <p:txBody>
          <a:bodyPr wrap="square" lIns="0" tIns="0" rIns="0" bIns="0" rtlCol="0" anchor="t"/>
          <a:lstStyle/>
          <a:p>
            <a:pPr marL="0" indent="0" algn="ctr">
              <a:buNone/>
            </a:pPr>
            <a:r>
              <a:rPr lang="en-US" sz="1400" b="1" dirty="0">
                <a:solidFill>
                  <a:srgbClr val="0B1F3A"/>
                </a:solidFill>
                <a:latin typeface="Calibri" pitchFamily="34" charset="0"/>
                <a:ea typeface="Calibri" pitchFamily="34" charset="-122"/>
                <a:cs typeface="Calibri" pitchFamily="34" charset="-120"/>
              </a:rPr>
              <a:t>aistctl</a:t>
            </a:r>
            <a:endParaRPr lang="en-US" sz="1400" dirty="0"/>
          </a:p>
        </p:txBody>
      </p:sp>
      <p:sp>
        <p:nvSpPr>
          <p:cNvPr id="22" name="Text 17"/>
          <p:cNvSpPr txBox="1"/>
          <p:nvPr/>
        </p:nvSpPr>
        <p:spPr>
          <a:xfrm>
            <a:off x="3931920" y="2377440"/>
            <a:ext cx="1234440" cy="411480"/>
          </a:xfrm>
          <a:prstGeom prst="rect">
            <a:avLst/>
          </a:prstGeom>
          <a:noFill/>
          <a:ln/>
        </p:spPr>
        <p:txBody>
          <a:bodyPr wrap="square" lIns="0" tIns="0" rIns="0" bIns="0" rtlCol="0" anchor="t"/>
          <a:lstStyle/>
          <a:p>
            <a:pPr marL="0" indent="0" algn="ctr">
              <a:buNone/>
            </a:pPr>
            <a:r>
              <a:rPr lang="en-US" sz="950" dirty="0">
                <a:solidFill>
                  <a:srgbClr val="5B6B82"/>
                </a:solidFill>
                <a:latin typeface="Courier New" pitchFamily="34" charset="0"/>
                <a:ea typeface="Courier New" pitchFamily="34" charset="-122"/>
                <a:cs typeface="Courier New" pitchFamily="34" charset="-120"/>
              </a:rPr>
              <a:t>validate-commit</a:t>
            </a:r>
            <a:endParaRPr lang="en-US" sz="950" dirty="0"/>
          </a:p>
        </p:txBody>
      </p:sp>
      <p:sp>
        <p:nvSpPr>
          <p:cNvPr id="23" name="Shape 18"/>
          <p:cNvSpPr/>
          <p:nvPr/>
        </p:nvSpPr>
        <p:spPr>
          <a:xfrm>
            <a:off x="5285232" y="2125980"/>
            <a:ext cx="219456" cy="0"/>
          </a:xfrm>
          <a:prstGeom prst="line">
            <a:avLst/>
          </a:prstGeom>
          <a:noFill/>
          <a:ln w="22225">
            <a:solidFill>
              <a:srgbClr val="0E9F9A"/>
            </a:solidFill>
            <a:prstDash val="solid"/>
            <a:tailEnd type="triangle"/>
          </a:ln>
        </p:spPr>
        <p:txBody>
          <a:bodyPr/>
          <a:lstStyle/>
          <a:p>
            <a:endParaRPr lang="en-US"/>
          </a:p>
        </p:txBody>
      </p:sp>
      <p:sp>
        <p:nvSpPr>
          <p:cNvPr id="24" name="Shape 19"/>
          <p:cNvSpPr/>
          <p:nvPr/>
        </p:nvSpPr>
        <p:spPr>
          <a:xfrm>
            <a:off x="5532120" y="1371600"/>
            <a:ext cx="1417320" cy="1508760"/>
          </a:xfrm>
          <a:prstGeom prst="roundRect">
            <a:avLst>
              <a:gd name="adj" fmla="val 5161"/>
            </a:avLst>
          </a:prstGeom>
          <a:solidFill>
            <a:srgbClr val="F4F7FB"/>
          </a:solidFill>
          <a:ln w="9525">
            <a:solidFill>
              <a:srgbClr val="D5DDE8"/>
            </a:solidFill>
            <a:prstDash val="solid"/>
          </a:ln>
        </p:spPr>
        <p:txBody>
          <a:bodyPr/>
          <a:lstStyle/>
          <a:p>
            <a:endParaRPr lang="en-US"/>
          </a:p>
        </p:txBody>
      </p:sp>
      <p:sp>
        <p:nvSpPr>
          <p:cNvPr id="25" name="Shape 20"/>
          <p:cNvSpPr/>
          <p:nvPr/>
        </p:nvSpPr>
        <p:spPr>
          <a:xfrm>
            <a:off x="5989320" y="150876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6115050" y="1634490"/>
            <a:ext cx="251460" cy="251460"/>
          </a:xfrm>
          <a:prstGeom prst="rect">
            <a:avLst/>
          </a:prstGeom>
        </p:spPr>
      </p:pic>
      <p:sp>
        <p:nvSpPr>
          <p:cNvPr id="27" name="Text 21"/>
          <p:cNvSpPr txBox="1"/>
          <p:nvPr/>
        </p:nvSpPr>
        <p:spPr>
          <a:xfrm>
            <a:off x="5605272" y="2103120"/>
            <a:ext cx="1271016" cy="256032"/>
          </a:xfrm>
          <a:prstGeom prst="rect">
            <a:avLst/>
          </a:prstGeom>
          <a:noFill/>
          <a:ln/>
        </p:spPr>
        <p:txBody>
          <a:bodyPr wrap="square" lIns="0" tIns="0" rIns="0" bIns="0" rtlCol="0" anchor="t"/>
          <a:lstStyle/>
          <a:p>
            <a:pPr marL="0" indent="0" algn="ctr">
              <a:buNone/>
            </a:pPr>
            <a:r>
              <a:rPr lang="en-US" sz="1400" b="1" dirty="0">
                <a:solidFill>
                  <a:srgbClr val="0B1F3A"/>
                </a:solidFill>
                <a:latin typeface="Calibri" pitchFamily="34" charset="0"/>
                <a:ea typeface="Calibri" pitchFamily="34" charset="-122"/>
                <a:cs typeface="Calibri" pitchFamily="34" charset="-120"/>
              </a:rPr>
              <a:t>Jira</a:t>
            </a:r>
            <a:endParaRPr lang="en-US" sz="1400" dirty="0"/>
          </a:p>
        </p:txBody>
      </p:sp>
      <p:sp>
        <p:nvSpPr>
          <p:cNvPr id="28" name="Text 22"/>
          <p:cNvSpPr txBox="1"/>
          <p:nvPr/>
        </p:nvSpPr>
        <p:spPr>
          <a:xfrm>
            <a:off x="5623560" y="2377440"/>
            <a:ext cx="1234440" cy="411480"/>
          </a:xfrm>
          <a:prstGeom prst="rect">
            <a:avLst/>
          </a:prstGeom>
          <a:noFill/>
          <a:ln/>
        </p:spPr>
        <p:txBody>
          <a:bodyPr wrap="square" lIns="0" tIns="0" rIns="0" bIns="0" rtlCol="0" anchor="t"/>
          <a:lstStyle/>
          <a:p>
            <a:pPr marL="0" indent="0" algn="ctr">
              <a:buNone/>
            </a:pPr>
            <a:r>
              <a:rPr lang="en-US" sz="1100" dirty="0">
                <a:solidFill>
                  <a:srgbClr val="5B6B82"/>
                </a:solidFill>
                <a:latin typeface="Calibri" pitchFamily="34" charset="0"/>
                <a:ea typeface="Calibri" pitchFamily="34" charset="-122"/>
                <a:cs typeface="Calibri" pitchFamily="34" charset="-120"/>
              </a:rPr>
              <a:t>Credentials and issue check</a:t>
            </a:r>
            <a:endParaRPr lang="en-US" sz="1100" dirty="0"/>
          </a:p>
        </p:txBody>
      </p:sp>
      <p:sp>
        <p:nvSpPr>
          <p:cNvPr id="29" name="Shape 23"/>
          <p:cNvSpPr/>
          <p:nvPr/>
        </p:nvSpPr>
        <p:spPr>
          <a:xfrm>
            <a:off x="6976872" y="2125980"/>
            <a:ext cx="219456" cy="0"/>
          </a:xfrm>
          <a:prstGeom prst="line">
            <a:avLst/>
          </a:prstGeom>
          <a:noFill/>
          <a:ln w="22225">
            <a:solidFill>
              <a:srgbClr val="0E9F9A"/>
            </a:solidFill>
            <a:prstDash val="solid"/>
            <a:tailEnd type="triangle"/>
          </a:ln>
        </p:spPr>
        <p:txBody>
          <a:bodyPr/>
          <a:lstStyle/>
          <a:p>
            <a:endParaRPr lang="en-US"/>
          </a:p>
        </p:txBody>
      </p:sp>
      <p:sp>
        <p:nvSpPr>
          <p:cNvPr id="30" name="Shape 24"/>
          <p:cNvSpPr/>
          <p:nvPr/>
        </p:nvSpPr>
        <p:spPr>
          <a:xfrm>
            <a:off x="7223760" y="1371600"/>
            <a:ext cx="1417320" cy="1508760"/>
          </a:xfrm>
          <a:prstGeom prst="roundRect">
            <a:avLst>
              <a:gd name="adj" fmla="val 5161"/>
            </a:avLst>
          </a:prstGeom>
          <a:solidFill>
            <a:srgbClr val="F4F7FB"/>
          </a:solidFill>
          <a:ln w="9525">
            <a:solidFill>
              <a:srgbClr val="D5DDE8"/>
            </a:solidFill>
            <a:prstDash val="solid"/>
          </a:ln>
        </p:spPr>
        <p:txBody>
          <a:bodyPr/>
          <a:lstStyle/>
          <a:p>
            <a:endParaRPr lang="en-US"/>
          </a:p>
        </p:txBody>
      </p:sp>
      <p:sp>
        <p:nvSpPr>
          <p:cNvPr id="31" name="Shape 25"/>
          <p:cNvSpPr/>
          <p:nvPr/>
        </p:nvSpPr>
        <p:spPr>
          <a:xfrm>
            <a:off x="7680960" y="150876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7806690" y="1634490"/>
            <a:ext cx="251460" cy="251460"/>
          </a:xfrm>
          <a:prstGeom prst="rect">
            <a:avLst/>
          </a:prstGeom>
        </p:spPr>
      </p:pic>
      <p:sp>
        <p:nvSpPr>
          <p:cNvPr id="33" name="Text 26"/>
          <p:cNvSpPr txBox="1"/>
          <p:nvPr/>
        </p:nvSpPr>
        <p:spPr>
          <a:xfrm>
            <a:off x="7296912" y="2103120"/>
            <a:ext cx="1271016" cy="256032"/>
          </a:xfrm>
          <a:prstGeom prst="rect">
            <a:avLst/>
          </a:prstGeom>
          <a:noFill/>
          <a:ln/>
        </p:spPr>
        <p:txBody>
          <a:bodyPr wrap="square" lIns="0" tIns="0" rIns="0" bIns="0" rtlCol="0" anchor="t"/>
          <a:lstStyle/>
          <a:p>
            <a:pPr marL="0" indent="0" algn="ctr">
              <a:buNone/>
            </a:pPr>
            <a:r>
              <a:rPr lang="en-US" sz="1400" b="1" dirty="0">
                <a:solidFill>
                  <a:srgbClr val="0B1F3A"/>
                </a:solidFill>
                <a:latin typeface="Calibri" pitchFamily="34" charset="0"/>
                <a:ea typeface="Calibri" pitchFamily="34" charset="-122"/>
                <a:cs typeface="Calibri" pitchFamily="34" charset="-120"/>
              </a:rPr>
              <a:t>Decision</a:t>
            </a:r>
            <a:endParaRPr lang="en-US" sz="1400" dirty="0"/>
          </a:p>
        </p:txBody>
      </p:sp>
      <p:sp>
        <p:nvSpPr>
          <p:cNvPr id="34" name="Text 27"/>
          <p:cNvSpPr txBox="1"/>
          <p:nvPr/>
        </p:nvSpPr>
        <p:spPr>
          <a:xfrm>
            <a:off x="7315200" y="2377440"/>
            <a:ext cx="1234440" cy="411480"/>
          </a:xfrm>
          <a:prstGeom prst="rect">
            <a:avLst/>
          </a:prstGeom>
          <a:noFill/>
          <a:ln/>
        </p:spPr>
        <p:txBody>
          <a:bodyPr wrap="square" lIns="0" tIns="0" rIns="0" bIns="0" rtlCol="0" anchor="t"/>
          <a:lstStyle/>
          <a:p>
            <a:pPr marL="0" indent="0" algn="ctr">
              <a:buNone/>
            </a:pPr>
            <a:r>
              <a:rPr lang="en-US" sz="1100" dirty="0">
                <a:solidFill>
                  <a:srgbClr val="5B6B82"/>
                </a:solidFill>
                <a:latin typeface="Calibri" pitchFamily="34" charset="0"/>
                <a:ea typeface="Calibri" pitchFamily="34" charset="-122"/>
                <a:cs typeface="Calibri" pitchFamily="34" charset="-120"/>
              </a:rPr>
              <a:t>Allow or reject</a:t>
            </a:r>
            <a:endParaRPr lang="en-US" sz="1100" dirty="0"/>
          </a:p>
        </p:txBody>
      </p:sp>
      <p:sp>
        <p:nvSpPr>
          <p:cNvPr id="35" name="Text 28"/>
          <p:cNvSpPr txBox="1"/>
          <p:nvPr/>
        </p:nvSpPr>
        <p:spPr>
          <a:xfrm>
            <a:off x="457200" y="3108960"/>
            <a:ext cx="822960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The guardrail runs before the commit is created.</a:t>
            </a:r>
            <a:endParaRPr lang="en-US" sz="1500" dirty="0"/>
          </a:p>
        </p:txBody>
      </p:sp>
      <p:sp>
        <p:nvSpPr>
          <p:cNvPr id="36" name="Shape 29"/>
          <p:cNvSpPr/>
          <p:nvPr/>
        </p:nvSpPr>
        <p:spPr>
          <a:xfrm>
            <a:off x="457200" y="3520440"/>
            <a:ext cx="4023360" cy="1005840"/>
          </a:xfrm>
          <a:prstGeom prst="roundRect">
            <a:avLst>
              <a:gd name="adj" fmla="val 7273"/>
            </a:avLst>
          </a:prstGeom>
          <a:solidFill>
            <a:srgbClr val="E8F6EE"/>
          </a:solidFill>
          <a:ln w="9525">
            <a:solidFill>
              <a:srgbClr val="B7E2C7"/>
            </a:solidFill>
            <a:prstDash val="solid"/>
          </a:ln>
        </p:spPr>
        <p:txBody>
          <a:bodyPr/>
          <a:lstStyle/>
          <a:p>
            <a:endParaRPr lang="en-US"/>
          </a:p>
        </p:txBody>
      </p:sp>
      <p:sp>
        <p:nvSpPr>
          <p:cNvPr id="37" name="Shape 30"/>
          <p:cNvSpPr/>
          <p:nvPr/>
        </p:nvSpPr>
        <p:spPr>
          <a:xfrm>
            <a:off x="640080" y="3794760"/>
            <a:ext cx="457200" cy="457200"/>
          </a:xfrm>
          <a:prstGeom prst="ellipse">
            <a:avLst/>
          </a:prstGeom>
          <a:solidFill>
            <a:srgbClr val="16A34A"/>
          </a:solidFill>
          <a:ln w="12700">
            <a:solidFill>
              <a:srgbClr val="16A34A"/>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754380" y="3909060"/>
            <a:ext cx="228600" cy="228600"/>
          </a:xfrm>
          <a:prstGeom prst="rect">
            <a:avLst/>
          </a:prstGeom>
        </p:spPr>
      </p:pic>
      <p:sp>
        <p:nvSpPr>
          <p:cNvPr id="39" name="Text 31"/>
          <p:cNvSpPr txBox="1"/>
          <p:nvPr/>
        </p:nvSpPr>
        <p:spPr>
          <a:xfrm>
            <a:off x="1280160" y="3657600"/>
            <a:ext cx="301752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Allowed</a:t>
            </a:r>
            <a:endParaRPr lang="en-US" sz="1500" dirty="0"/>
          </a:p>
        </p:txBody>
      </p:sp>
      <p:sp>
        <p:nvSpPr>
          <p:cNvPr id="40" name="Text 32"/>
          <p:cNvSpPr txBox="1"/>
          <p:nvPr/>
        </p:nvSpPr>
        <p:spPr>
          <a:xfrm>
            <a:off x="1280160" y="3950208"/>
            <a:ext cx="3017520" cy="45720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Jira issue exists and the commit is created.</a:t>
            </a:r>
            <a:endParaRPr lang="en-US" sz="1200" dirty="0"/>
          </a:p>
        </p:txBody>
      </p:sp>
      <p:sp>
        <p:nvSpPr>
          <p:cNvPr id="41" name="Shape 33"/>
          <p:cNvSpPr/>
          <p:nvPr/>
        </p:nvSpPr>
        <p:spPr>
          <a:xfrm>
            <a:off x="4663440" y="3520440"/>
            <a:ext cx="4023360" cy="1005840"/>
          </a:xfrm>
          <a:prstGeom prst="roundRect">
            <a:avLst>
              <a:gd name="adj" fmla="val 7273"/>
            </a:avLst>
          </a:prstGeom>
          <a:solidFill>
            <a:srgbClr val="FCEBEB"/>
          </a:solidFill>
          <a:ln w="9525">
            <a:solidFill>
              <a:srgbClr val="F1BFBF"/>
            </a:solidFill>
            <a:prstDash val="solid"/>
          </a:ln>
        </p:spPr>
        <p:txBody>
          <a:bodyPr/>
          <a:lstStyle/>
          <a:p>
            <a:endParaRPr lang="en-US"/>
          </a:p>
        </p:txBody>
      </p:sp>
      <p:sp>
        <p:nvSpPr>
          <p:cNvPr id="42" name="Shape 34"/>
          <p:cNvSpPr/>
          <p:nvPr/>
        </p:nvSpPr>
        <p:spPr>
          <a:xfrm>
            <a:off x="4846320" y="3794760"/>
            <a:ext cx="457200" cy="457200"/>
          </a:xfrm>
          <a:prstGeom prst="ellipse">
            <a:avLst/>
          </a:prstGeom>
          <a:solidFill>
            <a:srgbClr val="DC2626"/>
          </a:solidFill>
          <a:ln w="12700">
            <a:solidFill>
              <a:srgbClr val="DC2626"/>
            </a:solidFill>
            <a:prstDash val="solid"/>
          </a:ln>
        </p:spPr>
        <p:txBody>
          <a:bodyPr/>
          <a:lstStyle/>
          <a:p>
            <a:endParaRPr lang="en-US"/>
          </a:p>
        </p:txBody>
      </p:sp>
      <p:pic>
        <p:nvPicPr>
          <p:cNvPr id="43" name="Image 6" descr="preencoded.png"/>
          <p:cNvPicPr>
            <a:picLocks noChangeAspect="1"/>
          </p:cNvPicPr>
          <p:nvPr/>
        </p:nvPicPr>
        <p:blipFill>
          <a:blip r:embed="rId9"/>
          <a:stretch>
            <a:fillRect/>
          </a:stretch>
        </p:blipFill>
        <p:spPr>
          <a:xfrm>
            <a:off x="4960620" y="3909060"/>
            <a:ext cx="228600" cy="228600"/>
          </a:xfrm>
          <a:prstGeom prst="rect">
            <a:avLst/>
          </a:prstGeom>
        </p:spPr>
      </p:pic>
      <p:sp>
        <p:nvSpPr>
          <p:cNvPr id="44" name="Text 35"/>
          <p:cNvSpPr txBox="1"/>
          <p:nvPr/>
        </p:nvSpPr>
        <p:spPr>
          <a:xfrm>
            <a:off x="5486400" y="3657600"/>
            <a:ext cx="301752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Rejected</a:t>
            </a:r>
            <a:endParaRPr lang="en-US" sz="1500" dirty="0"/>
          </a:p>
        </p:txBody>
      </p:sp>
      <p:sp>
        <p:nvSpPr>
          <p:cNvPr id="45" name="Text 36"/>
          <p:cNvSpPr txBox="1"/>
          <p:nvPr/>
        </p:nvSpPr>
        <p:spPr>
          <a:xfrm>
            <a:off x="5486400" y="3950208"/>
            <a:ext cx="3017520" cy="45720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key is missing, the issue does not exist, or credentials are invalid.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VALIDATION LOGIC</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How the Guardrail Works</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457200" y="1371600"/>
            <a:ext cx="1920240" cy="2148840"/>
          </a:xfrm>
          <a:prstGeom prst="roundRect">
            <a:avLst>
              <a:gd name="adj" fmla="val 3810"/>
            </a:avLst>
          </a:prstGeom>
          <a:solidFill>
            <a:srgbClr val="F4F7FB"/>
          </a:solidFill>
          <a:ln w="9525">
            <a:solidFill>
              <a:srgbClr val="D5DDE8"/>
            </a:solidFill>
            <a:prstDash val="solid"/>
          </a:ln>
        </p:spPr>
        <p:txBody>
          <a:bodyPr/>
          <a:lstStyle/>
          <a:p>
            <a:endParaRPr lang="en-US"/>
          </a:p>
        </p:txBody>
      </p:sp>
      <p:sp>
        <p:nvSpPr>
          <p:cNvPr id="7" name="Shape 5"/>
          <p:cNvSpPr/>
          <p:nvPr/>
        </p:nvSpPr>
        <p:spPr>
          <a:xfrm>
            <a:off x="640080" y="155448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765810" y="1680210"/>
            <a:ext cx="251460" cy="251460"/>
          </a:xfrm>
          <a:prstGeom prst="rect">
            <a:avLst/>
          </a:prstGeom>
        </p:spPr>
      </p:pic>
      <p:sp>
        <p:nvSpPr>
          <p:cNvPr id="9" name="Text 6"/>
          <p:cNvSpPr txBox="1"/>
          <p:nvPr/>
        </p:nvSpPr>
        <p:spPr>
          <a:xfrm>
            <a:off x="1554480" y="1554480"/>
            <a:ext cx="640080" cy="502920"/>
          </a:xfrm>
          <a:prstGeom prst="rect">
            <a:avLst/>
          </a:prstGeom>
          <a:noFill/>
          <a:ln/>
        </p:spPr>
        <p:txBody>
          <a:bodyPr wrap="square" lIns="0" tIns="0" rIns="0" bIns="0" rtlCol="0" anchor="ctr"/>
          <a:lstStyle/>
          <a:p>
            <a:pPr marL="0" indent="0" algn="r">
              <a:buNone/>
            </a:pPr>
            <a:r>
              <a:rPr lang="en-US" sz="2200" b="1" dirty="0">
                <a:solidFill>
                  <a:srgbClr val="D5DDE8"/>
                </a:solidFill>
                <a:latin typeface="Calibri" pitchFamily="34" charset="0"/>
                <a:ea typeface="Calibri" pitchFamily="34" charset="-122"/>
                <a:cs typeface="Calibri" pitchFamily="34" charset="-120"/>
              </a:rPr>
              <a:t>01</a:t>
            </a:r>
            <a:endParaRPr lang="en-US" sz="2200" dirty="0"/>
          </a:p>
        </p:txBody>
      </p:sp>
      <p:sp>
        <p:nvSpPr>
          <p:cNvPr id="10" name="Text 7"/>
          <p:cNvSpPr txBox="1"/>
          <p:nvPr/>
        </p:nvSpPr>
        <p:spPr>
          <a:xfrm>
            <a:off x="640080" y="2194560"/>
            <a:ext cx="160020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Extract issue key</a:t>
            </a:r>
            <a:endParaRPr lang="en-US" sz="1400" dirty="0"/>
          </a:p>
        </p:txBody>
      </p:sp>
      <p:sp>
        <p:nvSpPr>
          <p:cNvPr id="11" name="Text 8"/>
          <p:cNvSpPr txBox="1"/>
          <p:nvPr/>
        </p:nvSpPr>
        <p:spPr>
          <a:xfrm>
            <a:off x="640080" y="2670048"/>
            <a:ext cx="1600200" cy="82296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Reads the commit message and looks for a key such as AIST-1234.</a:t>
            </a:r>
            <a:endParaRPr lang="en-US" sz="1150" dirty="0"/>
          </a:p>
        </p:txBody>
      </p:sp>
      <p:sp>
        <p:nvSpPr>
          <p:cNvPr id="12" name="Shape 9"/>
          <p:cNvSpPr/>
          <p:nvPr/>
        </p:nvSpPr>
        <p:spPr>
          <a:xfrm>
            <a:off x="2560320" y="1371600"/>
            <a:ext cx="1920240" cy="2148840"/>
          </a:xfrm>
          <a:prstGeom prst="roundRect">
            <a:avLst>
              <a:gd name="adj" fmla="val 3810"/>
            </a:avLst>
          </a:prstGeom>
          <a:solidFill>
            <a:srgbClr val="F4F7FB"/>
          </a:solidFill>
          <a:ln w="9525">
            <a:solidFill>
              <a:srgbClr val="D5DDE8"/>
            </a:solidFill>
            <a:prstDash val="solid"/>
          </a:ln>
        </p:spPr>
        <p:txBody>
          <a:bodyPr/>
          <a:lstStyle/>
          <a:p>
            <a:endParaRPr lang="en-US"/>
          </a:p>
        </p:txBody>
      </p:sp>
      <p:sp>
        <p:nvSpPr>
          <p:cNvPr id="13" name="Shape 10"/>
          <p:cNvSpPr/>
          <p:nvPr/>
        </p:nvSpPr>
        <p:spPr>
          <a:xfrm>
            <a:off x="2743200" y="155448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2868930" y="1680210"/>
            <a:ext cx="251460" cy="251460"/>
          </a:xfrm>
          <a:prstGeom prst="rect">
            <a:avLst/>
          </a:prstGeom>
        </p:spPr>
      </p:pic>
      <p:sp>
        <p:nvSpPr>
          <p:cNvPr id="15" name="Text 11"/>
          <p:cNvSpPr txBox="1"/>
          <p:nvPr/>
        </p:nvSpPr>
        <p:spPr>
          <a:xfrm>
            <a:off x="3657600" y="1554480"/>
            <a:ext cx="640080" cy="502920"/>
          </a:xfrm>
          <a:prstGeom prst="rect">
            <a:avLst/>
          </a:prstGeom>
          <a:noFill/>
          <a:ln/>
        </p:spPr>
        <p:txBody>
          <a:bodyPr wrap="square" lIns="0" tIns="0" rIns="0" bIns="0" rtlCol="0" anchor="ctr"/>
          <a:lstStyle/>
          <a:p>
            <a:pPr marL="0" indent="0" algn="r">
              <a:buNone/>
            </a:pPr>
            <a:r>
              <a:rPr lang="en-US" sz="2200" b="1" dirty="0">
                <a:solidFill>
                  <a:srgbClr val="D5DDE8"/>
                </a:solidFill>
                <a:latin typeface="Calibri" pitchFamily="34" charset="0"/>
                <a:ea typeface="Calibri" pitchFamily="34" charset="-122"/>
                <a:cs typeface="Calibri" pitchFamily="34" charset="-120"/>
              </a:rPr>
              <a:t>02</a:t>
            </a:r>
            <a:endParaRPr lang="en-US" sz="2200" dirty="0"/>
          </a:p>
        </p:txBody>
      </p:sp>
      <p:sp>
        <p:nvSpPr>
          <p:cNvPr id="16" name="Text 12"/>
          <p:cNvSpPr txBox="1"/>
          <p:nvPr/>
        </p:nvSpPr>
        <p:spPr>
          <a:xfrm>
            <a:off x="2743200" y="2194560"/>
            <a:ext cx="160020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Validate credentials</a:t>
            </a:r>
            <a:endParaRPr lang="en-US" sz="1400" dirty="0"/>
          </a:p>
        </p:txBody>
      </p:sp>
      <p:sp>
        <p:nvSpPr>
          <p:cNvPr id="17" name="Text 13"/>
          <p:cNvSpPr txBox="1"/>
          <p:nvPr/>
        </p:nvSpPr>
        <p:spPr>
          <a:xfrm>
            <a:off x="2743200" y="2670048"/>
            <a:ext cx="1600200" cy="82296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Confirms Jira accepts the configured credentials.</a:t>
            </a:r>
            <a:endParaRPr lang="en-US" sz="1150" dirty="0"/>
          </a:p>
        </p:txBody>
      </p:sp>
      <p:sp>
        <p:nvSpPr>
          <p:cNvPr id="18" name="Shape 14"/>
          <p:cNvSpPr/>
          <p:nvPr/>
        </p:nvSpPr>
        <p:spPr>
          <a:xfrm>
            <a:off x="4663440" y="1371600"/>
            <a:ext cx="1920240" cy="2148840"/>
          </a:xfrm>
          <a:prstGeom prst="roundRect">
            <a:avLst>
              <a:gd name="adj" fmla="val 3810"/>
            </a:avLst>
          </a:prstGeom>
          <a:solidFill>
            <a:srgbClr val="F4F7FB"/>
          </a:solidFill>
          <a:ln w="9525">
            <a:solidFill>
              <a:srgbClr val="D5DDE8"/>
            </a:solidFill>
            <a:prstDash val="solid"/>
          </a:ln>
        </p:spPr>
        <p:txBody>
          <a:bodyPr/>
          <a:lstStyle/>
          <a:p>
            <a:endParaRPr lang="en-US"/>
          </a:p>
        </p:txBody>
      </p:sp>
      <p:sp>
        <p:nvSpPr>
          <p:cNvPr id="19" name="Shape 15"/>
          <p:cNvSpPr/>
          <p:nvPr/>
        </p:nvSpPr>
        <p:spPr>
          <a:xfrm>
            <a:off x="4846320" y="155448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4972050" y="1680210"/>
            <a:ext cx="251460" cy="251460"/>
          </a:xfrm>
          <a:prstGeom prst="rect">
            <a:avLst/>
          </a:prstGeom>
        </p:spPr>
      </p:pic>
      <p:sp>
        <p:nvSpPr>
          <p:cNvPr id="21" name="Text 16"/>
          <p:cNvSpPr txBox="1"/>
          <p:nvPr/>
        </p:nvSpPr>
        <p:spPr>
          <a:xfrm>
            <a:off x="5760720" y="1554480"/>
            <a:ext cx="640080" cy="502920"/>
          </a:xfrm>
          <a:prstGeom prst="rect">
            <a:avLst/>
          </a:prstGeom>
          <a:noFill/>
          <a:ln/>
        </p:spPr>
        <p:txBody>
          <a:bodyPr wrap="square" lIns="0" tIns="0" rIns="0" bIns="0" rtlCol="0" anchor="ctr"/>
          <a:lstStyle/>
          <a:p>
            <a:pPr marL="0" indent="0" algn="r">
              <a:buNone/>
            </a:pPr>
            <a:r>
              <a:rPr lang="en-US" sz="2200" b="1" dirty="0">
                <a:solidFill>
                  <a:srgbClr val="D5DDE8"/>
                </a:solidFill>
                <a:latin typeface="Calibri" pitchFamily="34" charset="0"/>
                <a:ea typeface="Calibri" pitchFamily="34" charset="-122"/>
                <a:cs typeface="Calibri" pitchFamily="34" charset="-120"/>
              </a:rPr>
              <a:t>03</a:t>
            </a:r>
            <a:endParaRPr lang="en-US" sz="2200" dirty="0"/>
          </a:p>
        </p:txBody>
      </p:sp>
      <p:sp>
        <p:nvSpPr>
          <p:cNvPr id="22" name="Text 17"/>
          <p:cNvSpPr txBox="1"/>
          <p:nvPr/>
        </p:nvSpPr>
        <p:spPr>
          <a:xfrm>
            <a:off x="4846320" y="2194560"/>
            <a:ext cx="160020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Check issue existence</a:t>
            </a:r>
            <a:endParaRPr lang="en-US" sz="1400" dirty="0"/>
          </a:p>
        </p:txBody>
      </p:sp>
      <p:sp>
        <p:nvSpPr>
          <p:cNvPr id="23" name="Text 18"/>
          <p:cNvSpPr txBox="1"/>
          <p:nvPr/>
        </p:nvSpPr>
        <p:spPr>
          <a:xfrm>
            <a:off x="4846320" y="2670048"/>
            <a:ext cx="1600200" cy="82296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Confirms the referenced issue exists in Jira. This is the only issue-level check.</a:t>
            </a:r>
            <a:endParaRPr lang="en-US" sz="1150" dirty="0"/>
          </a:p>
        </p:txBody>
      </p:sp>
      <p:sp>
        <p:nvSpPr>
          <p:cNvPr id="24" name="Shape 19"/>
          <p:cNvSpPr/>
          <p:nvPr/>
        </p:nvSpPr>
        <p:spPr>
          <a:xfrm>
            <a:off x="6766560" y="1371600"/>
            <a:ext cx="1920240" cy="2148840"/>
          </a:xfrm>
          <a:prstGeom prst="roundRect">
            <a:avLst>
              <a:gd name="adj" fmla="val 3810"/>
            </a:avLst>
          </a:prstGeom>
          <a:solidFill>
            <a:srgbClr val="F4F7FB"/>
          </a:solidFill>
          <a:ln w="9525">
            <a:solidFill>
              <a:srgbClr val="D5DDE8"/>
            </a:solidFill>
            <a:prstDash val="solid"/>
          </a:ln>
        </p:spPr>
        <p:txBody>
          <a:bodyPr/>
          <a:lstStyle/>
          <a:p>
            <a:endParaRPr lang="en-US"/>
          </a:p>
        </p:txBody>
      </p:sp>
      <p:sp>
        <p:nvSpPr>
          <p:cNvPr id="25" name="Shape 20"/>
          <p:cNvSpPr/>
          <p:nvPr/>
        </p:nvSpPr>
        <p:spPr>
          <a:xfrm>
            <a:off x="6949440" y="1554480"/>
            <a:ext cx="502920" cy="502920"/>
          </a:xfrm>
          <a:prstGeom prst="ellipse">
            <a:avLst/>
          </a:prstGeom>
          <a:solidFill>
            <a:srgbClr val="0E9F9A"/>
          </a:solidFill>
          <a:ln w="12700">
            <a:solidFill>
              <a:srgbClr val="0E9F9A"/>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7075170" y="1680210"/>
            <a:ext cx="251460" cy="251460"/>
          </a:xfrm>
          <a:prstGeom prst="rect">
            <a:avLst/>
          </a:prstGeom>
        </p:spPr>
      </p:pic>
      <p:sp>
        <p:nvSpPr>
          <p:cNvPr id="27" name="Text 21"/>
          <p:cNvSpPr txBox="1"/>
          <p:nvPr/>
        </p:nvSpPr>
        <p:spPr>
          <a:xfrm>
            <a:off x="7863840" y="1554480"/>
            <a:ext cx="640080" cy="502920"/>
          </a:xfrm>
          <a:prstGeom prst="rect">
            <a:avLst/>
          </a:prstGeom>
          <a:noFill/>
          <a:ln/>
        </p:spPr>
        <p:txBody>
          <a:bodyPr wrap="square" lIns="0" tIns="0" rIns="0" bIns="0" rtlCol="0" anchor="ctr"/>
          <a:lstStyle/>
          <a:p>
            <a:pPr marL="0" indent="0" algn="r">
              <a:buNone/>
            </a:pPr>
            <a:r>
              <a:rPr lang="en-US" sz="2200" b="1" dirty="0">
                <a:solidFill>
                  <a:srgbClr val="D5DDE8"/>
                </a:solidFill>
                <a:latin typeface="Calibri" pitchFamily="34" charset="0"/>
                <a:ea typeface="Calibri" pitchFamily="34" charset="-122"/>
                <a:cs typeface="Calibri" pitchFamily="34" charset="-120"/>
              </a:rPr>
              <a:t>04</a:t>
            </a:r>
            <a:endParaRPr lang="en-US" sz="2200" dirty="0"/>
          </a:p>
        </p:txBody>
      </p:sp>
      <p:sp>
        <p:nvSpPr>
          <p:cNvPr id="28" name="Text 22"/>
          <p:cNvSpPr txBox="1"/>
          <p:nvPr/>
        </p:nvSpPr>
        <p:spPr>
          <a:xfrm>
            <a:off x="6949440" y="2194560"/>
            <a:ext cx="160020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Commit decision</a:t>
            </a:r>
            <a:endParaRPr lang="en-US" sz="1400" dirty="0"/>
          </a:p>
        </p:txBody>
      </p:sp>
      <p:sp>
        <p:nvSpPr>
          <p:cNvPr id="29" name="Text 23"/>
          <p:cNvSpPr txBox="1"/>
          <p:nvPr/>
        </p:nvSpPr>
        <p:spPr>
          <a:xfrm>
            <a:off x="6949440" y="2670048"/>
            <a:ext cx="1600200" cy="82296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Allows the commit if the issue exists. Otherwise the commit is rejected.</a:t>
            </a:r>
            <a:endParaRPr lang="en-US" sz="1150" dirty="0"/>
          </a:p>
        </p:txBody>
      </p:sp>
      <p:sp>
        <p:nvSpPr>
          <p:cNvPr id="30" name="Text 24"/>
          <p:cNvSpPr txBox="1"/>
          <p:nvPr/>
        </p:nvSpPr>
        <p:spPr>
          <a:xfrm>
            <a:off x="457200" y="3749040"/>
            <a:ext cx="8229600" cy="256032"/>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Distinct failure conditions</a:t>
            </a:r>
            <a:endParaRPr lang="en-US" sz="1400" dirty="0"/>
          </a:p>
        </p:txBody>
      </p:sp>
      <p:sp>
        <p:nvSpPr>
          <p:cNvPr id="31" name="Shape 25"/>
          <p:cNvSpPr/>
          <p:nvPr/>
        </p:nvSpPr>
        <p:spPr>
          <a:xfrm>
            <a:off x="457200" y="4041648"/>
            <a:ext cx="1554480" cy="475488"/>
          </a:xfrm>
          <a:prstGeom prst="roundRect">
            <a:avLst>
              <a:gd name="adj" fmla="val 11538"/>
            </a:avLst>
          </a:prstGeom>
          <a:solidFill>
            <a:srgbClr val="FFFFFF"/>
          </a:solidFill>
          <a:ln w="9525">
            <a:solidFill>
              <a:srgbClr val="A9B7C9"/>
            </a:solidFill>
            <a:prstDash val="solid"/>
          </a:ln>
        </p:spPr>
        <p:txBody>
          <a:bodyPr/>
          <a:lstStyle/>
          <a:p>
            <a:endParaRPr lang="en-US"/>
          </a:p>
        </p:txBody>
      </p:sp>
      <p:sp>
        <p:nvSpPr>
          <p:cNvPr id="32" name="Text 26"/>
          <p:cNvSpPr txBox="1"/>
          <p:nvPr/>
        </p:nvSpPr>
        <p:spPr>
          <a:xfrm>
            <a:off x="530352" y="4041648"/>
            <a:ext cx="1408176" cy="475488"/>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Missing issue key</a:t>
            </a:r>
            <a:endParaRPr lang="en-US" sz="1100" dirty="0"/>
          </a:p>
        </p:txBody>
      </p:sp>
      <p:sp>
        <p:nvSpPr>
          <p:cNvPr id="33" name="Shape 27"/>
          <p:cNvSpPr/>
          <p:nvPr/>
        </p:nvSpPr>
        <p:spPr>
          <a:xfrm>
            <a:off x="2125980" y="4041648"/>
            <a:ext cx="1554480" cy="475488"/>
          </a:xfrm>
          <a:prstGeom prst="roundRect">
            <a:avLst>
              <a:gd name="adj" fmla="val 11538"/>
            </a:avLst>
          </a:prstGeom>
          <a:solidFill>
            <a:srgbClr val="FFFFFF"/>
          </a:solidFill>
          <a:ln w="9525">
            <a:solidFill>
              <a:srgbClr val="A9B7C9"/>
            </a:solidFill>
            <a:prstDash val="solid"/>
          </a:ln>
        </p:spPr>
        <p:txBody>
          <a:bodyPr/>
          <a:lstStyle/>
          <a:p>
            <a:endParaRPr lang="en-US"/>
          </a:p>
        </p:txBody>
      </p:sp>
      <p:sp>
        <p:nvSpPr>
          <p:cNvPr id="34" name="Text 28"/>
          <p:cNvSpPr txBox="1"/>
          <p:nvPr/>
        </p:nvSpPr>
        <p:spPr>
          <a:xfrm>
            <a:off x="2199132" y="4041648"/>
            <a:ext cx="1408176" cy="475488"/>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Issue does not exist</a:t>
            </a:r>
            <a:endParaRPr lang="en-US" sz="1100" dirty="0"/>
          </a:p>
        </p:txBody>
      </p:sp>
      <p:sp>
        <p:nvSpPr>
          <p:cNvPr id="35" name="Shape 29"/>
          <p:cNvSpPr/>
          <p:nvPr/>
        </p:nvSpPr>
        <p:spPr>
          <a:xfrm>
            <a:off x="3794760" y="4041648"/>
            <a:ext cx="1554480" cy="475488"/>
          </a:xfrm>
          <a:prstGeom prst="roundRect">
            <a:avLst>
              <a:gd name="adj" fmla="val 11538"/>
            </a:avLst>
          </a:prstGeom>
          <a:solidFill>
            <a:srgbClr val="FFFFFF"/>
          </a:solidFill>
          <a:ln w="9525">
            <a:solidFill>
              <a:srgbClr val="A9B7C9"/>
            </a:solidFill>
            <a:prstDash val="solid"/>
          </a:ln>
        </p:spPr>
        <p:txBody>
          <a:bodyPr/>
          <a:lstStyle/>
          <a:p>
            <a:endParaRPr lang="en-US"/>
          </a:p>
        </p:txBody>
      </p:sp>
      <p:sp>
        <p:nvSpPr>
          <p:cNvPr id="36" name="Text 30"/>
          <p:cNvSpPr txBox="1"/>
          <p:nvPr/>
        </p:nvSpPr>
        <p:spPr>
          <a:xfrm>
            <a:off x="3867912" y="4041648"/>
            <a:ext cx="1408176" cy="475488"/>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Authentication or permission</a:t>
            </a:r>
            <a:endParaRPr lang="en-US" sz="1100" dirty="0"/>
          </a:p>
        </p:txBody>
      </p:sp>
      <p:sp>
        <p:nvSpPr>
          <p:cNvPr id="37" name="Shape 31"/>
          <p:cNvSpPr/>
          <p:nvPr/>
        </p:nvSpPr>
        <p:spPr>
          <a:xfrm>
            <a:off x="5463540" y="4041648"/>
            <a:ext cx="1554480" cy="475488"/>
          </a:xfrm>
          <a:prstGeom prst="roundRect">
            <a:avLst>
              <a:gd name="adj" fmla="val 11538"/>
            </a:avLst>
          </a:prstGeom>
          <a:solidFill>
            <a:srgbClr val="FFFFFF"/>
          </a:solidFill>
          <a:ln w="9525">
            <a:solidFill>
              <a:srgbClr val="A9B7C9"/>
            </a:solidFill>
            <a:prstDash val="solid"/>
          </a:ln>
        </p:spPr>
        <p:txBody>
          <a:bodyPr/>
          <a:lstStyle/>
          <a:p>
            <a:endParaRPr lang="en-US"/>
          </a:p>
        </p:txBody>
      </p:sp>
      <p:sp>
        <p:nvSpPr>
          <p:cNvPr id="38" name="Text 32"/>
          <p:cNvSpPr txBox="1"/>
          <p:nvPr/>
        </p:nvSpPr>
        <p:spPr>
          <a:xfrm>
            <a:off x="5536692" y="4041648"/>
            <a:ext cx="1408176" cy="475488"/>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Connectivity or timeout</a:t>
            </a:r>
            <a:endParaRPr lang="en-US" sz="1100" dirty="0"/>
          </a:p>
        </p:txBody>
      </p:sp>
      <p:sp>
        <p:nvSpPr>
          <p:cNvPr id="39" name="Shape 33"/>
          <p:cNvSpPr/>
          <p:nvPr/>
        </p:nvSpPr>
        <p:spPr>
          <a:xfrm>
            <a:off x="7132320" y="4041648"/>
            <a:ext cx="1554480" cy="475488"/>
          </a:xfrm>
          <a:prstGeom prst="roundRect">
            <a:avLst>
              <a:gd name="adj" fmla="val 11538"/>
            </a:avLst>
          </a:prstGeom>
          <a:solidFill>
            <a:srgbClr val="FFFFFF"/>
          </a:solidFill>
          <a:ln w="9525">
            <a:solidFill>
              <a:srgbClr val="A9B7C9"/>
            </a:solidFill>
            <a:prstDash val="solid"/>
          </a:ln>
        </p:spPr>
        <p:txBody>
          <a:bodyPr/>
          <a:lstStyle/>
          <a:p>
            <a:endParaRPr lang="en-US"/>
          </a:p>
        </p:txBody>
      </p:sp>
      <p:sp>
        <p:nvSpPr>
          <p:cNvPr id="40" name="Text 34"/>
          <p:cNvSpPr txBox="1"/>
          <p:nvPr/>
        </p:nvSpPr>
        <p:spPr>
          <a:xfrm>
            <a:off x="7205472" y="4041648"/>
            <a:ext cx="1408176" cy="475488"/>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Other validation error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COMMAND LINE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CLI Experience</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457200" y="1325880"/>
            <a:ext cx="4206240" cy="3246120"/>
          </a:xfrm>
          <a:prstGeom prst="roundRect">
            <a:avLst>
              <a:gd name="adj" fmla="val 2254"/>
            </a:avLst>
          </a:prstGeom>
          <a:solidFill>
            <a:srgbClr val="F4F7FB"/>
          </a:solidFill>
          <a:ln w="9525">
            <a:solidFill>
              <a:srgbClr val="D5DDE8"/>
            </a:solidFill>
            <a:prstDash val="solid"/>
          </a:ln>
        </p:spPr>
        <p:txBody>
          <a:bodyPr/>
          <a:lstStyle/>
          <a:p>
            <a:endParaRPr lang="en-US"/>
          </a:p>
        </p:txBody>
      </p:sp>
      <p:sp>
        <p:nvSpPr>
          <p:cNvPr id="7" name="Text 5"/>
          <p:cNvSpPr txBox="1"/>
          <p:nvPr/>
        </p:nvSpPr>
        <p:spPr>
          <a:xfrm>
            <a:off x="685800" y="1463040"/>
            <a:ext cx="365760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Public commands</a:t>
            </a:r>
            <a:endParaRPr lang="en-US" sz="1400" dirty="0"/>
          </a:p>
        </p:txBody>
      </p:sp>
      <p:sp>
        <p:nvSpPr>
          <p:cNvPr id="8" name="Text 6"/>
          <p:cNvSpPr txBox="1"/>
          <p:nvPr/>
        </p:nvSpPr>
        <p:spPr>
          <a:xfrm>
            <a:off x="685800" y="1810512"/>
            <a:ext cx="1691640" cy="329184"/>
          </a:xfrm>
          <a:prstGeom prst="rect">
            <a:avLst/>
          </a:prstGeom>
          <a:noFill/>
          <a:ln/>
        </p:spPr>
        <p:txBody>
          <a:bodyPr wrap="square" lIns="0" tIns="0" rIns="0" bIns="0" rtlCol="0" anchor="ctr"/>
          <a:lstStyle/>
          <a:p>
            <a:pPr marL="0" indent="0">
              <a:buNone/>
            </a:pPr>
            <a:r>
              <a:rPr lang="en-US" sz="1150" b="1" dirty="0">
                <a:solidFill>
                  <a:srgbClr val="0E9F9A"/>
                </a:solidFill>
                <a:latin typeface="Courier New" pitchFamily="34" charset="0"/>
                <a:ea typeface="Courier New" pitchFamily="34" charset="-122"/>
                <a:cs typeface="Courier New" pitchFamily="34" charset="-120"/>
              </a:rPr>
              <a:t>aistctl setup</a:t>
            </a:r>
            <a:endParaRPr lang="en-US" sz="1150" dirty="0"/>
          </a:p>
        </p:txBody>
      </p:sp>
      <p:sp>
        <p:nvSpPr>
          <p:cNvPr id="9" name="Text 7"/>
          <p:cNvSpPr txBox="1"/>
          <p:nvPr/>
        </p:nvSpPr>
        <p:spPr>
          <a:xfrm>
            <a:off x="2423160" y="1810512"/>
            <a:ext cx="2103120" cy="329184"/>
          </a:xfrm>
          <a:prstGeom prst="rect">
            <a:avLst/>
          </a:prstGeom>
          <a:noFill/>
          <a:ln/>
        </p:spPr>
        <p:txBody>
          <a:bodyPr wrap="square" lIns="0" tIns="0" rIns="0" bIns="0" rtlCol="0" anchor="ctr"/>
          <a:lstStyle/>
          <a:p>
            <a:pPr marL="0" indent="0">
              <a:buNone/>
            </a:pPr>
            <a:r>
              <a:rPr lang="en-US" sz="1150" dirty="0">
                <a:solidFill>
                  <a:srgbClr val="0F172A"/>
                </a:solidFill>
                <a:latin typeface="Calibri" pitchFamily="34" charset="0"/>
                <a:ea typeface="Calibri" pitchFamily="34" charset="-122"/>
                <a:cs typeface="Calibri" pitchFamily="34" charset="-120"/>
              </a:rPr>
              <a:t>Guided first-time setup</a:t>
            </a:r>
            <a:endParaRPr lang="en-US" sz="1150" dirty="0"/>
          </a:p>
        </p:txBody>
      </p:sp>
      <p:sp>
        <p:nvSpPr>
          <p:cNvPr id="10" name="Shape 8"/>
          <p:cNvSpPr/>
          <p:nvPr/>
        </p:nvSpPr>
        <p:spPr>
          <a:xfrm>
            <a:off x="685800" y="2148840"/>
            <a:ext cx="3749040" cy="0"/>
          </a:xfrm>
          <a:prstGeom prst="line">
            <a:avLst/>
          </a:prstGeom>
          <a:noFill/>
          <a:ln w="9525">
            <a:solidFill>
              <a:srgbClr val="D5DDE8"/>
            </a:solidFill>
            <a:prstDash val="solid"/>
          </a:ln>
        </p:spPr>
        <p:txBody>
          <a:bodyPr/>
          <a:lstStyle/>
          <a:p>
            <a:endParaRPr lang="en-US"/>
          </a:p>
        </p:txBody>
      </p:sp>
      <p:sp>
        <p:nvSpPr>
          <p:cNvPr id="11" name="Text 9"/>
          <p:cNvSpPr txBox="1"/>
          <p:nvPr/>
        </p:nvSpPr>
        <p:spPr>
          <a:xfrm>
            <a:off x="685800" y="2176272"/>
            <a:ext cx="1691640" cy="329184"/>
          </a:xfrm>
          <a:prstGeom prst="rect">
            <a:avLst/>
          </a:prstGeom>
          <a:noFill/>
          <a:ln/>
        </p:spPr>
        <p:txBody>
          <a:bodyPr wrap="square" lIns="0" tIns="0" rIns="0" bIns="0" rtlCol="0" anchor="ctr"/>
          <a:lstStyle/>
          <a:p>
            <a:pPr marL="0" indent="0">
              <a:buNone/>
            </a:pPr>
            <a:r>
              <a:rPr lang="en-US" sz="1150" b="1" dirty="0">
                <a:solidFill>
                  <a:srgbClr val="0E9F9A"/>
                </a:solidFill>
                <a:latin typeface="Courier New" pitchFamily="34" charset="0"/>
                <a:ea typeface="Courier New" pitchFamily="34" charset="-122"/>
                <a:cs typeface="Courier New" pitchFamily="34" charset="-120"/>
              </a:rPr>
              <a:t>aistctl configure</a:t>
            </a:r>
            <a:endParaRPr lang="en-US" sz="1150" dirty="0"/>
          </a:p>
        </p:txBody>
      </p:sp>
      <p:sp>
        <p:nvSpPr>
          <p:cNvPr id="12" name="Text 10"/>
          <p:cNvSpPr txBox="1"/>
          <p:nvPr/>
        </p:nvSpPr>
        <p:spPr>
          <a:xfrm>
            <a:off x="2423160" y="2176272"/>
            <a:ext cx="2103120" cy="329184"/>
          </a:xfrm>
          <a:prstGeom prst="rect">
            <a:avLst/>
          </a:prstGeom>
          <a:noFill/>
          <a:ln/>
        </p:spPr>
        <p:txBody>
          <a:bodyPr wrap="square" lIns="0" tIns="0" rIns="0" bIns="0" rtlCol="0" anchor="ctr"/>
          <a:lstStyle/>
          <a:p>
            <a:pPr marL="0" indent="0">
              <a:buNone/>
            </a:pPr>
            <a:r>
              <a:rPr lang="en-US" sz="1150" dirty="0">
                <a:solidFill>
                  <a:srgbClr val="0F172A"/>
                </a:solidFill>
                <a:latin typeface="Calibri" pitchFamily="34" charset="0"/>
                <a:ea typeface="Calibri" pitchFamily="34" charset="-122"/>
                <a:cs typeface="Calibri" pitchFamily="34" charset="-120"/>
              </a:rPr>
              <a:t>Configure Jira settings</a:t>
            </a:r>
            <a:endParaRPr lang="en-US" sz="1150" dirty="0"/>
          </a:p>
        </p:txBody>
      </p:sp>
      <p:sp>
        <p:nvSpPr>
          <p:cNvPr id="13" name="Shape 11"/>
          <p:cNvSpPr/>
          <p:nvPr/>
        </p:nvSpPr>
        <p:spPr>
          <a:xfrm>
            <a:off x="685800" y="2514600"/>
            <a:ext cx="3749040" cy="0"/>
          </a:xfrm>
          <a:prstGeom prst="line">
            <a:avLst/>
          </a:prstGeom>
          <a:noFill/>
          <a:ln w="9525">
            <a:solidFill>
              <a:srgbClr val="D5DDE8"/>
            </a:solidFill>
            <a:prstDash val="solid"/>
          </a:ln>
        </p:spPr>
        <p:txBody>
          <a:bodyPr/>
          <a:lstStyle/>
          <a:p>
            <a:endParaRPr lang="en-US"/>
          </a:p>
        </p:txBody>
      </p:sp>
      <p:sp>
        <p:nvSpPr>
          <p:cNvPr id="14" name="Text 12"/>
          <p:cNvSpPr txBox="1"/>
          <p:nvPr/>
        </p:nvSpPr>
        <p:spPr>
          <a:xfrm>
            <a:off x="685800" y="2542032"/>
            <a:ext cx="1691640" cy="329184"/>
          </a:xfrm>
          <a:prstGeom prst="rect">
            <a:avLst/>
          </a:prstGeom>
          <a:noFill/>
          <a:ln/>
        </p:spPr>
        <p:txBody>
          <a:bodyPr wrap="square" lIns="0" tIns="0" rIns="0" bIns="0" rtlCol="0" anchor="ctr"/>
          <a:lstStyle/>
          <a:p>
            <a:pPr marL="0" indent="0">
              <a:buNone/>
            </a:pPr>
            <a:r>
              <a:rPr lang="en-US" sz="1150" b="1" dirty="0">
                <a:solidFill>
                  <a:srgbClr val="0E9F9A"/>
                </a:solidFill>
                <a:latin typeface="Courier New" pitchFamily="34" charset="0"/>
                <a:ea typeface="Courier New" pitchFamily="34" charset="-122"/>
                <a:cs typeface="Courier New" pitchFamily="34" charset="-120"/>
              </a:rPr>
              <a:t>aistctl renew</a:t>
            </a:r>
            <a:endParaRPr lang="en-US" sz="1150" dirty="0"/>
          </a:p>
        </p:txBody>
      </p:sp>
      <p:sp>
        <p:nvSpPr>
          <p:cNvPr id="15" name="Text 13"/>
          <p:cNvSpPr txBox="1"/>
          <p:nvPr/>
        </p:nvSpPr>
        <p:spPr>
          <a:xfrm>
            <a:off x="2423160" y="2542032"/>
            <a:ext cx="2103120" cy="329184"/>
          </a:xfrm>
          <a:prstGeom prst="rect">
            <a:avLst/>
          </a:prstGeom>
          <a:noFill/>
          <a:ln/>
        </p:spPr>
        <p:txBody>
          <a:bodyPr wrap="square" lIns="0" tIns="0" rIns="0" bIns="0" rtlCol="0" anchor="ctr"/>
          <a:lstStyle/>
          <a:p>
            <a:pPr marL="0" indent="0">
              <a:buNone/>
            </a:pPr>
            <a:r>
              <a:rPr lang="en-US" sz="1150" dirty="0">
                <a:solidFill>
                  <a:srgbClr val="0F172A"/>
                </a:solidFill>
                <a:latin typeface="Calibri" pitchFamily="34" charset="0"/>
                <a:ea typeface="Calibri" pitchFamily="34" charset="-122"/>
                <a:cs typeface="Calibri" pitchFamily="34" charset="-120"/>
              </a:rPr>
              <a:t>Renew the Jira API token</a:t>
            </a:r>
            <a:endParaRPr lang="en-US" sz="1150" dirty="0"/>
          </a:p>
        </p:txBody>
      </p:sp>
      <p:sp>
        <p:nvSpPr>
          <p:cNvPr id="16" name="Shape 14"/>
          <p:cNvSpPr/>
          <p:nvPr/>
        </p:nvSpPr>
        <p:spPr>
          <a:xfrm>
            <a:off x="685800" y="2880360"/>
            <a:ext cx="3749040" cy="0"/>
          </a:xfrm>
          <a:prstGeom prst="line">
            <a:avLst/>
          </a:prstGeom>
          <a:noFill/>
          <a:ln w="9525">
            <a:solidFill>
              <a:srgbClr val="D5DDE8"/>
            </a:solidFill>
            <a:prstDash val="solid"/>
          </a:ln>
        </p:spPr>
        <p:txBody>
          <a:bodyPr/>
          <a:lstStyle/>
          <a:p>
            <a:endParaRPr lang="en-US"/>
          </a:p>
        </p:txBody>
      </p:sp>
      <p:sp>
        <p:nvSpPr>
          <p:cNvPr id="17" name="Text 15"/>
          <p:cNvSpPr txBox="1"/>
          <p:nvPr/>
        </p:nvSpPr>
        <p:spPr>
          <a:xfrm>
            <a:off x="685800" y="2907792"/>
            <a:ext cx="1691640" cy="329184"/>
          </a:xfrm>
          <a:prstGeom prst="rect">
            <a:avLst/>
          </a:prstGeom>
          <a:noFill/>
          <a:ln/>
        </p:spPr>
        <p:txBody>
          <a:bodyPr wrap="square" lIns="0" tIns="0" rIns="0" bIns="0" rtlCol="0" anchor="ctr"/>
          <a:lstStyle/>
          <a:p>
            <a:pPr marL="0" indent="0">
              <a:buNone/>
            </a:pPr>
            <a:r>
              <a:rPr lang="en-US" sz="1150" b="1" dirty="0">
                <a:solidFill>
                  <a:srgbClr val="0E9F9A"/>
                </a:solidFill>
                <a:latin typeface="Courier New" pitchFamily="34" charset="0"/>
                <a:ea typeface="Courier New" pitchFamily="34" charset="-122"/>
                <a:cs typeface="Courier New" pitchFamily="34" charset="-120"/>
              </a:rPr>
              <a:t>aistctl install</a:t>
            </a:r>
            <a:endParaRPr lang="en-US" sz="1150" dirty="0"/>
          </a:p>
        </p:txBody>
      </p:sp>
      <p:sp>
        <p:nvSpPr>
          <p:cNvPr id="18" name="Text 16"/>
          <p:cNvSpPr txBox="1"/>
          <p:nvPr/>
        </p:nvSpPr>
        <p:spPr>
          <a:xfrm>
            <a:off x="2423160" y="2907792"/>
            <a:ext cx="2103120" cy="329184"/>
          </a:xfrm>
          <a:prstGeom prst="rect">
            <a:avLst/>
          </a:prstGeom>
          <a:noFill/>
          <a:ln/>
        </p:spPr>
        <p:txBody>
          <a:bodyPr wrap="square" lIns="0" tIns="0" rIns="0" bIns="0" rtlCol="0" anchor="ctr"/>
          <a:lstStyle/>
          <a:p>
            <a:pPr marL="0" indent="0">
              <a:buNone/>
            </a:pPr>
            <a:r>
              <a:rPr lang="en-US" sz="1150" dirty="0">
                <a:solidFill>
                  <a:srgbClr val="0F172A"/>
                </a:solidFill>
                <a:latin typeface="Calibri" pitchFamily="34" charset="0"/>
                <a:ea typeface="Calibri" pitchFamily="34" charset="-122"/>
                <a:cs typeface="Calibri" pitchFamily="34" charset="-120"/>
              </a:rPr>
              <a:t>Install the global Git hook</a:t>
            </a:r>
            <a:endParaRPr lang="en-US" sz="1150" dirty="0"/>
          </a:p>
        </p:txBody>
      </p:sp>
      <p:sp>
        <p:nvSpPr>
          <p:cNvPr id="19" name="Shape 17"/>
          <p:cNvSpPr/>
          <p:nvPr/>
        </p:nvSpPr>
        <p:spPr>
          <a:xfrm>
            <a:off x="685800" y="3246120"/>
            <a:ext cx="3749040" cy="0"/>
          </a:xfrm>
          <a:prstGeom prst="line">
            <a:avLst/>
          </a:prstGeom>
          <a:noFill/>
          <a:ln w="9525">
            <a:solidFill>
              <a:srgbClr val="D5DDE8"/>
            </a:solidFill>
            <a:prstDash val="solid"/>
          </a:ln>
        </p:spPr>
        <p:txBody>
          <a:bodyPr/>
          <a:lstStyle/>
          <a:p>
            <a:endParaRPr lang="en-US"/>
          </a:p>
        </p:txBody>
      </p:sp>
      <p:sp>
        <p:nvSpPr>
          <p:cNvPr id="20" name="Text 18"/>
          <p:cNvSpPr txBox="1"/>
          <p:nvPr/>
        </p:nvSpPr>
        <p:spPr>
          <a:xfrm>
            <a:off x="685800" y="3273552"/>
            <a:ext cx="1691640" cy="329184"/>
          </a:xfrm>
          <a:prstGeom prst="rect">
            <a:avLst/>
          </a:prstGeom>
          <a:noFill/>
          <a:ln/>
        </p:spPr>
        <p:txBody>
          <a:bodyPr wrap="square" lIns="0" tIns="0" rIns="0" bIns="0" rtlCol="0" anchor="ctr"/>
          <a:lstStyle/>
          <a:p>
            <a:pPr marL="0" indent="0">
              <a:buNone/>
            </a:pPr>
            <a:r>
              <a:rPr lang="en-US" sz="1150" b="1" dirty="0">
                <a:solidFill>
                  <a:srgbClr val="0E9F9A"/>
                </a:solidFill>
                <a:latin typeface="Courier New" pitchFamily="34" charset="0"/>
                <a:ea typeface="Courier New" pitchFamily="34" charset="-122"/>
                <a:cs typeface="Courier New" pitchFamily="34" charset="-120"/>
              </a:rPr>
              <a:t>aistctl uninstall</a:t>
            </a:r>
            <a:endParaRPr lang="en-US" sz="1150" dirty="0"/>
          </a:p>
        </p:txBody>
      </p:sp>
      <p:sp>
        <p:nvSpPr>
          <p:cNvPr id="21" name="Text 19"/>
          <p:cNvSpPr txBox="1"/>
          <p:nvPr/>
        </p:nvSpPr>
        <p:spPr>
          <a:xfrm>
            <a:off x="2423160" y="3273552"/>
            <a:ext cx="2103120" cy="329184"/>
          </a:xfrm>
          <a:prstGeom prst="rect">
            <a:avLst/>
          </a:prstGeom>
          <a:noFill/>
          <a:ln/>
        </p:spPr>
        <p:txBody>
          <a:bodyPr wrap="square" lIns="0" tIns="0" rIns="0" bIns="0" rtlCol="0" anchor="ctr"/>
          <a:lstStyle/>
          <a:p>
            <a:pPr marL="0" indent="0">
              <a:buNone/>
            </a:pPr>
            <a:r>
              <a:rPr lang="en-US" sz="1150" dirty="0">
                <a:solidFill>
                  <a:srgbClr val="0F172A"/>
                </a:solidFill>
                <a:latin typeface="Calibri" pitchFamily="34" charset="0"/>
                <a:ea typeface="Calibri" pitchFamily="34" charset="-122"/>
                <a:cs typeface="Calibri" pitchFamily="34" charset="-120"/>
              </a:rPr>
              <a:t>Uninstall the Git hook</a:t>
            </a:r>
            <a:endParaRPr lang="en-US" sz="1150" dirty="0"/>
          </a:p>
        </p:txBody>
      </p:sp>
      <p:sp>
        <p:nvSpPr>
          <p:cNvPr id="22" name="Shape 20"/>
          <p:cNvSpPr/>
          <p:nvPr/>
        </p:nvSpPr>
        <p:spPr>
          <a:xfrm>
            <a:off x="685800" y="3611880"/>
            <a:ext cx="3749040" cy="0"/>
          </a:xfrm>
          <a:prstGeom prst="line">
            <a:avLst/>
          </a:prstGeom>
          <a:noFill/>
          <a:ln w="9525">
            <a:solidFill>
              <a:srgbClr val="D5DDE8"/>
            </a:solidFill>
            <a:prstDash val="solid"/>
          </a:ln>
        </p:spPr>
        <p:txBody>
          <a:bodyPr/>
          <a:lstStyle/>
          <a:p>
            <a:endParaRPr lang="en-US"/>
          </a:p>
        </p:txBody>
      </p:sp>
      <p:sp>
        <p:nvSpPr>
          <p:cNvPr id="23" name="Text 21"/>
          <p:cNvSpPr txBox="1"/>
          <p:nvPr/>
        </p:nvSpPr>
        <p:spPr>
          <a:xfrm>
            <a:off x="685800" y="3639312"/>
            <a:ext cx="1691640" cy="329184"/>
          </a:xfrm>
          <a:prstGeom prst="rect">
            <a:avLst/>
          </a:prstGeom>
          <a:noFill/>
          <a:ln/>
        </p:spPr>
        <p:txBody>
          <a:bodyPr wrap="square" lIns="0" tIns="0" rIns="0" bIns="0" rtlCol="0" anchor="ctr"/>
          <a:lstStyle/>
          <a:p>
            <a:pPr marL="0" indent="0">
              <a:buNone/>
            </a:pPr>
            <a:r>
              <a:rPr lang="en-US" sz="1150" b="1" dirty="0">
                <a:solidFill>
                  <a:srgbClr val="0E9F9A"/>
                </a:solidFill>
                <a:latin typeface="Courier New" pitchFamily="34" charset="0"/>
                <a:ea typeface="Courier New" pitchFamily="34" charset="-122"/>
                <a:cs typeface="Courier New" pitchFamily="34" charset="-120"/>
              </a:rPr>
              <a:t>aistctl status</a:t>
            </a:r>
            <a:endParaRPr lang="en-US" sz="1150" dirty="0"/>
          </a:p>
        </p:txBody>
      </p:sp>
      <p:sp>
        <p:nvSpPr>
          <p:cNvPr id="24" name="Text 22"/>
          <p:cNvSpPr txBox="1"/>
          <p:nvPr/>
        </p:nvSpPr>
        <p:spPr>
          <a:xfrm>
            <a:off x="2423160" y="3639312"/>
            <a:ext cx="2103120" cy="329184"/>
          </a:xfrm>
          <a:prstGeom prst="rect">
            <a:avLst/>
          </a:prstGeom>
          <a:noFill/>
          <a:ln/>
        </p:spPr>
        <p:txBody>
          <a:bodyPr wrap="square" lIns="0" tIns="0" rIns="0" bIns="0" rtlCol="0" anchor="ctr"/>
          <a:lstStyle/>
          <a:p>
            <a:pPr marL="0" indent="0">
              <a:buNone/>
            </a:pPr>
            <a:r>
              <a:rPr lang="en-US" sz="1150" dirty="0">
                <a:solidFill>
                  <a:srgbClr val="0F172A"/>
                </a:solidFill>
                <a:latin typeface="Calibri" pitchFamily="34" charset="0"/>
                <a:ea typeface="Calibri" pitchFamily="34" charset="-122"/>
                <a:cs typeface="Calibri" pitchFamily="34" charset="-120"/>
              </a:rPr>
              <a:t>Show installation and token status</a:t>
            </a:r>
            <a:endParaRPr lang="en-US" sz="1150" dirty="0"/>
          </a:p>
        </p:txBody>
      </p:sp>
      <p:sp>
        <p:nvSpPr>
          <p:cNvPr id="25" name="Text 23"/>
          <p:cNvSpPr txBox="1"/>
          <p:nvPr/>
        </p:nvSpPr>
        <p:spPr>
          <a:xfrm>
            <a:off x="685800" y="4114800"/>
            <a:ext cx="3794760" cy="36576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aistctl validate-commit is used internally by the Git hook and is not a customer-facing command.</a:t>
            </a:r>
            <a:endParaRPr lang="en-US" sz="1000" dirty="0"/>
          </a:p>
        </p:txBody>
      </p:sp>
      <p:sp>
        <p:nvSpPr>
          <p:cNvPr id="26" name="Text 24"/>
          <p:cNvSpPr txBox="1"/>
          <p:nvPr/>
        </p:nvSpPr>
        <p:spPr>
          <a:xfrm>
            <a:off x="4937760" y="1371600"/>
            <a:ext cx="374904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Guided setup, no manual file editing</a:t>
            </a:r>
            <a:endParaRPr lang="en-US" sz="1400" dirty="0"/>
          </a:p>
        </p:txBody>
      </p:sp>
      <p:sp>
        <p:nvSpPr>
          <p:cNvPr id="27" name="Shape 25"/>
          <p:cNvSpPr/>
          <p:nvPr/>
        </p:nvSpPr>
        <p:spPr>
          <a:xfrm>
            <a:off x="5120640" y="1984248"/>
            <a:ext cx="0" cy="2286000"/>
          </a:xfrm>
          <a:prstGeom prst="line">
            <a:avLst/>
          </a:prstGeom>
          <a:noFill/>
          <a:ln w="19050">
            <a:solidFill>
              <a:srgbClr val="D5DDE8"/>
            </a:solidFill>
            <a:prstDash val="solid"/>
          </a:ln>
        </p:spPr>
        <p:txBody>
          <a:bodyPr/>
          <a:lstStyle/>
          <a:p>
            <a:endParaRPr lang="en-US"/>
          </a:p>
        </p:txBody>
      </p:sp>
      <p:sp>
        <p:nvSpPr>
          <p:cNvPr id="28" name="Shape 26"/>
          <p:cNvSpPr/>
          <p:nvPr/>
        </p:nvSpPr>
        <p:spPr>
          <a:xfrm>
            <a:off x="4937760" y="1828800"/>
            <a:ext cx="310896" cy="310896"/>
          </a:xfrm>
          <a:prstGeom prst="ellipse">
            <a:avLst/>
          </a:prstGeom>
          <a:solidFill>
            <a:srgbClr val="0E9F9A"/>
          </a:solidFill>
          <a:ln w="19050">
            <a:solidFill>
              <a:srgbClr val="FFFFFF"/>
            </a:solidFill>
            <a:prstDash val="solid"/>
          </a:ln>
        </p:spPr>
        <p:txBody>
          <a:bodyPr/>
          <a:lstStyle/>
          <a:p>
            <a:endParaRPr lang="en-US"/>
          </a:p>
        </p:txBody>
      </p:sp>
      <p:sp>
        <p:nvSpPr>
          <p:cNvPr id="29" name="Text 27"/>
          <p:cNvSpPr txBox="1"/>
          <p:nvPr/>
        </p:nvSpPr>
        <p:spPr>
          <a:xfrm>
            <a:off x="4937760" y="18288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Text 28"/>
          <p:cNvSpPr txBox="1"/>
          <p:nvPr/>
        </p:nvSpPr>
        <p:spPr>
          <a:xfrm>
            <a:off x="5440680" y="1801368"/>
            <a:ext cx="3246120" cy="38404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Install the Windows MSI and run aistctl setup</a:t>
            </a:r>
            <a:endParaRPr lang="en-US" sz="1200" dirty="0"/>
          </a:p>
        </p:txBody>
      </p:sp>
      <p:sp>
        <p:nvSpPr>
          <p:cNvPr id="31" name="Shape 29"/>
          <p:cNvSpPr/>
          <p:nvPr/>
        </p:nvSpPr>
        <p:spPr>
          <a:xfrm>
            <a:off x="4937760" y="2286000"/>
            <a:ext cx="310896" cy="310896"/>
          </a:xfrm>
          <a:prstGeom prst="ellipse">
            <a:avLst/>
          </a:prstGeom>
          <a:solidFill>
            <a:srgbClr val="0E9F9A"/>
          </a:solidFill>
          <a:ln w="19050">
            <a:solidFill>
              <a:srgbClr val="FFFFFF"/>
            </a:solidFill>
            <a:prstDash val="solid"/>
          </a:ln>
        </p:spPr>
        <p:txBody>
          <a:bodyPr/>
          <a:lstStyle/>
          <a:p>
            <a:endParaRPr lang="en-US"/>
          </a:p>
        </p:txBody>
      </p:sp>
      <p:sp>
        <p:nvSpPr>
          <p:cNvPr id="32" name="Text 30"/>
          <p:cNvSpPr txBox="1"/>
          <p:nvPr/>
        </p:nvSpPr>
        <p:spPr>
          <a:xfrm>
            <a:off x="4937760"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txBox="1"/>
          <p:nvPr/>
        </p:nvSpPr>
        <p:spPr>
          <a:xfrm>
            <a:off x="5440680" y="2258568"/>
            <a:ext cx="3246120" cy="38404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Configure the Jira organization</a:t>
            </a:r>
            <a:endParaRPr lang="en-US" sz="1200" dirty="0"/>
          </a:p>
        </p:txBody>
      </p:sp>
      <p:sp>
        <p:nvSpPr>
          <p:cNvPr id="34" name="Shape 32"/>
          <p:cNvSpPr/>
          <p:nvPr/>
        </p:nvSpPr>
        <p:spPr>
          <a:xfrm>
            <a:off x="4937760" y="2743200"/>
            <a:ext cx="310896" cy="310896"/>
          </a:xfrm>
          <a:prstGeom prst="ellipse">
            <a:avLst/>
          </a:prstGeom>
          <a:solidFill>
            <a:srgbClr val="0E9F9A"/>
          </a:solidFill>
          <a:ln w="19050">
            <a:solidFill>
              <a:srgbClr val="FFFFFF"/>
            </a:solidFill>
            <a:prstDash val="solid"/>
          </a:ln>
        </p:spPr>
        <p:txBody>
          <a:bodyPr/>
          <a:lstStyle/>
          <a:p>
            <a:endParaRPr lang="en-US"/>
          </a:p>
        </p:txBody>
      </p:sp>
      <p:sp>
        <p:nvSpPr>
          <p:cNvPr id="35" name="Text 33"/>
          <p:cNvSpPr txBox="1"/>
          <p:nvPr/>
        </p:nvSpPr>
        <p:spPr>
          <a:xfrm>
            <a:off x="4937760" y="27432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Text 34"/>
          <p:cNvSpPr txBox="1"/>
          <p:nvPr/>
        </p:nvSpPr>
        <p:spPr>
          <a:xfrm>
            <a:off x="5440680" y="2715768"/>
            <a:ext cx="3246120" cy="38404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CLI opens the Atlassian API token page</a:t>
            </a:r>
            <a:endParaRPr lang="en-US" sz="1200" dirty="0"/>
          </a:p>
        </p:txBody>
      </p:sp>
      <p:sp>
        <p:nvSpPr>
          <p:cNvPr id="37" name="Shape 35"/>
          <p:cNvSpPr/>
          <p:nvPr/>
        </p:nvSpPr>
        <p:spPr>
          <a:xfrm>
            <a:off x="4937760" y="3200400"/>
            <a:ext cx="310896" cy="310896"/>
          </a:xfrm>
          <a:prstGeom prst="ellipse">
            <a:avLst/>
          </a:prstGeom>
          <a:solidFill>
            <a:srgbClr val="0E9F9A"/>
          </a:solidFill>
          <a:ln w="19050">
            <a:solidFill>
              <a:srgbClr val="FFFFFF"/>
            </a:solidFill>
            <a:prstDash val="solid"/>
          </a:ln>
        </p:spPr>
        <p:txBody>
          <a:bodyPr/>
          <a:lstStyle/>
          <a:p>
            <a:endParaRPr lang="en-US"/>
          </a:p>
        </p:txBody>
      </p:sp>
      <p:sp>
        <p:nvSpPr>
          <p:cNvPr id="38" name="Text 36"/>
          <p:cNvSpPr txBox="1"/>
          <p:nvPr/>
        </p:nvSpPr>
        <p:spPr>
          <a:xfrm>
            <a:off x="4937760" y="32004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Text 37"/>
          <p:cNvSpPr txBox="1"/>
          <p:nvPr/>
        </p:nvSpPr>
        <p:spPr>
          <a:xfrm>
            <a:off x="5440680" y="3172968"/>
            <a:ext cx="3246120" cy="38404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Paste the token into hidden input; credentials are validated before saving</a:t>
            </a:r>
            <a:endParaRPr lang="en-US" sz="1200" dirty="0"/>
          </a:p>
        </p:txBody>
      </p:sp>
      <p:sp>
        <p:nvSpPr>
          <p:cNvPr id="40" name="Shape 38"/>
          <p:cNvSpPr/>
          <p:nvPr/>
        </p:nvSpPr>
        <p:spPr>
          <a:xfrm>
            <a:off x="4937760" y="3657600"/>
            <a:ext cx="310896" cy="310896"/>
          </a:xfrm>
          <a:prstGeom prst="ellipse">
            <a:avLst/>
          </a:prstGeom>
          <a:solidFill>
            <a:srgbClr val="0E9F9A"/>
          </a:solidFill>
          <a:ln w="19050">
            <a:solidFill>
              <a:srgbClr val="FFFFFF"/>
            </a:solidFill>
            <a:prstDash val="solid"/>
          </a:ln>
        </p:spPr>
        <p:txBody>
          <a:bodyPr/>
          <a:lstStyle/>
          <a:p>
            <a:endParaRPr lang="en-US"/>
          </a:p>
        </p:txBody>
      </p:sp>
      <p:sp>
        <p:nvSpPr>
          <p:cNvPr id="41" name="Text 39"/>
          <p:cNvSpPr txBox="1"/>
          <p:nvPr/>
        </p:nvSpPr>
        <p:spPr>
          <a:xfrm>
            <a:off x="4937760" y="36576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2" name="Text 40"/>
          <p:cNvSpPr txBox="1"/>
          <p:nvPr/>
        </p:nvSpPr>
        <p:spPr>
          <a:xfrm>
            <a:off x="5440680" y="3630168"/>
            <a:ext cx="3246120" cy="38404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Enter the token expiration date</a:t>
            </a:r>
            <a:endParaRPr lang="en-US" sz="1200" dirty="0"/>
          </a:p>
        </p:txBody>
      </p:sp>
      <p:sp>
        <p:nvSpPr>
          <p:cNvPr id="43" name="Shape 41"/>
          <p:cNvSpPr/>
          <p:nvPr/>
        </p:nvSpPr>
        <p:spPr>
          <a:xfrm>
            <a:off x="4937760" y="4114800"/>
            <a:ext cx="310896" cy="310896"/>
          </a:xfrm>
          <a:prstGeom prst="ellipse">
            <a:avLst/>
          </a:prstGeom>
          <a:solidFill>
            <a:srgbClr val="0B1F3A"/>
          </a:solidFill>
          <a:ln w="19050">
            <a:solidFill>
              <a:srgbClr val="FFFFFF"/>
            </a:solidFill>
            <a:prstDash val="solid"/>
          </a:ln>
        </p:spPr>
        <p:txBody>
          <a:bodyPr/>
          <a:lstStyle/>
          <a:p>
            <a:endParaRPr lang="en-US"/>
          </a:p>
        </p:txBody>
      </p:sp>
      <p:sp>
        <p:nvSpPr>
          <p:cNvPr id="44" name="Text 42"/>
          <p:cNvSpPr txBox="1"/>
          <p:nvPr/>
        </p:nvSpPr>
        <p:spPr>
          <a:xfrm>
            <a:off x="4937760" y="41148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3"/>
          <p:cNvSpPr txBox="1"/>
          <p:nvPr/>
        </p:nvSpPr>
        <p:spPr>
          <a:xfrm>
            <a:off x="5440680" y="4087368"/>
            <a:ext cx="3246120" cy="38404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Global Git hook is installed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INTEGRATION</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Git Integration</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371600"/>
            <a:ext cx="3931920" cy="868680"/>
          </a:xfrm>
          <a:prstGeom prst="roundRect">
            <a:avLst>
              <a:gd name="adj" fmla="val 8421"/>
            </a:avLst>
          </a:prstGeom>
          <a:solidFill>
            <a:srgbClr val="F4F7FB"/>
          </a:solidFill>
          <a:ln w="9525">
            <a:solidFill>
              <a:srgbClr val="D5DDE8"/>
            </a:solidFill>
            <a:prstDash val="solid"/>
          </a:ln>
        </p:spPr>
        <p:txBody>
          <a:bodyPr/>
          <a:lstStyle/>
          <a:p>
            <a:endParaRPr lang="en-US"/>
          </a:p>
        </p:txBody>
      </p:sp>
      <p:sp>
        <p:nvSpPr>
          <p:cNvPr id="7" name="Text 5"/>
          <p:cNvSpPr txBox="1"/>
          <p:nvPr/>
        </p:nvSpPr>
        <p:spPr>
          <a:xfrm>
            <a:off x="685800" y="1508760"/>
            <a:ext cx="3474720" cy="228600"/>
          </a:xfrm>
          <a:prstGeom prst="rect">
            <a:avLst/>
          </a:prstGeom>
          <a:noFill/>
          <a:ln/>
        </p:spPr>
        <p:txBody>
          <a:bodyPr wrap="square" lIns="0" tIns="0" rIns="0" bIns="0" rtlCol="0" anchor="t"/>
          <a:lstStyle/>
          <a:p>
            <a:pPr marL="0" indent="0">
              <a:buNone/>
            </a:pPr>
            <a:r>
              <a:rPr lang="en-US" sz="1100" b="1" dirty="0">
                <a:solidFill>
                  <a:srgbClr val="5B6B82"/>
                </a:solidFill>
                <a:latin typeface="Calibri" pitchFamily="34" charset="0"/>
                <a:ea typeface="Calibri" pitchFamily="34" charset="-122"/>
                <a:cs typeface="Calibri" pitchFamily="34" charset="-120"/>
              </a:rPr>
              <a:t>Global Git configuration</a:t>
            </a:r>
            <a:endParaRPr lang="en-US" sz="1100" dirty="0"/>
          </a:p>
        </p:txBody>
      </p:sp>
      <p:sp>
        <p:nvSpPr>
          <p:cNvPr id="8" name="Text 6"/>
          <p:cNvSpPr txBox="1"/>
          <p:nvPr/>
        </p:nvSpPr>
        <p:spPr>
          <a:xfrm>
            <a:off x="685800" y="1810512"/>
            <a:ext cx="3520440" cy="274320"/>
          </a:xfrm>
          <a:prstGeom prst="rect">
            <a:avLst/>
          </a:prstGeom>
          <a:noFill/>
          <a:ln/>
        </p:spPr>
        <p:txBody>
          <a:bodyPr wrap="square" lIns="0" tIns="0" rIns="0" bIns="0" rtlCol="0" anchor="t"/>
          <a:lstStyle/>
          <a:p>
            <a:pPr marL="0" indent="0">
              <a:buNone/>
            </a:pPr>
            <a:r>
              <a:rPr lang="en-US" sz="1150" b="1" dirty="0">
                <a:solidFill>
                  <a:srgbClr val="0B1F3A"/>
                </a:solidFill>
                <a:latin typeface="Courier New" pitchFamily="34" charset="0"/>
                <a:ea typeface="Courier New" pitchFamily="34" charset="-122"/>
                <a:cs typeface="Courier New" pitchFamily="34" charset="-120"/>
              </a:rPr>
              <a:t>git config --global core.hooksPath</a:t>
            </a:r>
            <a:endParaRPr lang="en-US" sz="1150" dirty="0"/>
          </a:p>
        </p:txBody>
      </p:sp>
      <p:sp>
        <p:nvSpPr>
          <p:cNvPr id="9" name="Shape 7"/>
          <p:cNvSpPr/>
          <p:nvPr/>
        </p:nvSpPr>
        <p:spPr>
          <a:xfrm>
            <a:off x="2423160" y="2267712"/>
            <a:ext cx="0" cy="219456"/>
          </a:xfrm>
          <a:prstGeom prst="line">
            <a:avLst/>
          </a:prstGeom>
          <a:noFill/>
          <a:ln w="22225">
            <a:solidFill>
              <a:srgbClr val="0E9F9A"/>
            </a:solidFill>
            <a:prstDash val="solid"/>
            <a:tailEnd type="triangle"/>
          </a:ln>
        </p:spPr>
        <p:txBody>
          <a:bodyPr/>
          <a:lstStyle/>
          <a:p>
            <a:endParaRPr lang="en-US"/>
          </a:p>
        </p:txBody>
      </p:sp>
      <p:sp>
        <p:nvSpPr>
          <p:cNvPr id="10" name="Shape 8"/>
          <p:cNvSpPr/>
          <p:nvPr/>
        </p:nvSpPr>
        <p:spPr>
          <a:xfrm>
            <a:off x="457200" y="2514600"/>
            <a:ext cx="3931920" cy="868680"/>
          </a:xfrm>
          <a:prstGeom prst="roundRect">
            <a:avLst>
              <a:gd name="adj" fmla="val 8421"/>
            </a:avLst>
          </a:prstGeom>
          <a:solidFill>
            <a:srgbClr val="F4F7FB"/>
          </a:solidFill>
          <a:ln w="9525">
            <a:solidFill>
              <a:srgbClr val="D5DDE8"/>
            </a:solidFill>
            <a:prstDash val="solid"/>
          </a:ln>
        </p:spPr>
        <p:txBody>
          <a:bodyPr/>
          <a:lstStyle/>
          <a:p>
            <a:endParaRPr lang="en-US"/>
          </a:p>
        </p:txBody>
      </p:sp>
      <p:sp>
        <p:nvSpPr>
          <p:cNvPr id="11" name="Text 9"/>
          <p:cNvSpPr txBox="1"/>
          <p:nvPr/>
        </p:nvSpPr>
        <p:spPr>
          <a:xfrm>
            <a:off x="685800" y="2651760"/>
            <a:ext cx="3474720" cy="228600"/>
          </a:xfrm>
          <a:prstGeom prst="rect">
            <a:avLst/>
          </a:prstGeom>
          <a:noFill/>
          <a:ln/>
        </p:spPr>
        <p:txBody>
          <a:bodyPr wrap="square" lIns="0" tIns="0" rIns="0" bIns="0" rtlCol="0" anchor="t"/>
          <a:lstStyle/>
          <a:p>
            <a:pPr marL="0" indent="0">
              <a:buNone/>
            </a:pPr>
            <a:r>
              <a:rPr lang="en-US" sz="1100" b="1" dirty="0">
                <a:solidFill>
                  <a:srgbClr val="5B6B82"/>
                </a:solidFill>
                <a:latin typeface="Calibri" pitchFamily="34" charset="0"/>
                <a:ea typeface="Calibri" pitchFamily="34" charset="-122"/>
                <a:cs typeface="Calibri" pitchFamily="34" charset="-120"/>
              </a:rPr>
              <a:t>Hook directory (Windows)</a:t>
            </a:r>
            <a:endParaRPr lang="en-US" sz="1100" dirty="0"/>
          </a:p>
        </p:txBody>
      </p:sp>
      <p:sp>
        <p:nvSpPr>
          <p:cNvPr id="12" name="Text 10"/>
          <p:cNvSpPr txBox="1"/>
          <p:nvPr/>
        </p:nvSpPr>
        <p:spPr>
          <a:xfrm>
            <a:off x="685800" y="2953512"/>
            <a:ext cx="3520440" cy="274320"/>
          </a:xfrm>
          <a:prstGeom prst="rect">
            <a:avLst/>
          </a:prstGeom>
          <a:noFill/>
          <a:ln/>
        </p:spPr>
        <p:txBody>
          <a:bodyPr wrap="square" lIns="0" tIns="0" rIns="0" bIns="0" rtlCol="0" anchor="t"/>
          <a:lstStyle/>
          <a:p>
            <a:pPr marL="0" indent="0">
              <a:buNone/>
            </a:pPr>
            <a:r>
              <a:rPr lang="en-US" sz="1150" b="1" dirty="0">
                <a:solidFill>
                  <a:srgbClr val="0B1F3A"/>
                </a:solidFill>
                <a:latin typeface="Courier New" pitchFamily="34" charset="0"/>
                <a:ea typeface="Courier New" pitchFamily="34" charset="-122"/>
                <a:cs typeface="Courier New" pitchFamily="34" charset="-120"/>
              </a:rPr>
              <a:t>C:\ProgramData\AIST\git-hooks</a:t>
            </a:r>
            <a:endParaRPr lang="en-US" sz="1150" dirty="0"/>
          </a:p>
        </p:txBody>
      </p:sp>
      <p:sp>
        <p:nvSpPr>
          <p:cNvPr id="13" name="Shape 11"/>
          <p:cNvSpPr/>
          <p:nvPr/>
        </p:nvSpPr>
        <p:spPr>
          <a:xfrm>
            <a:off x="2423160" y="3410712"/>
            <a:ext cx="0" cy="219456"/>
          </a:xfrm>
          <a:prstGeom prst="line">
            <a:avLst/>
          </a:prstGeom>
          <a:noFill/>
          <a:ln w="22225">
            <a:solidFill>
              <a:srgbClr val="0E9F9A"/>
            </a:solidFill>
            <a:prstDash val="solid"/>
            <a:tailEnd type="triangle"/>
          </a:ln>
        </p:spPr>
        <p:txBody>
          <a:bodyPr/>
          <a:lstStyle/>
          <a:p>
            <a:endParaRPr lang="en-US"/>
          </a:p>
        </p:txBody>
      </p:sp>
      <p:sp>
        <p:nvSpPr>
          <p:cNvPr id="14" name="Shape 12"/>
          <p:cNvSpPr/>
          <p:nvPr/>
        </p:nvSpPr>
        <p:spPr>
          <a:xfrm>
            <a:off x="457200" y="3657600"/>
            <a:ext cx="3931920" cy="868680"/>
          </a:xfrm>
          <a:prstGeom prst="roundRect">
            <a:avLst>
              <a:gd name="adj" fmla="val 8421"/>
            </a:avLst>
          </a:prstGeom>
          <a:solidFill>
            <a:srgbClr val="0B1F3A"/>
          </a:solidFill>
          <a:ln w="12700">
            <a:solidFill>
              <a:srgbClr val="0B1F3A"/>
            </a:solidFill>
            <a:prstDash val="solid"/>
          </a:ln>
        </p:spPr>
        <p:txBody>
          <a:bodyPr/>
          <a:lstStyle/>
          <a:p>
            <a:endParaRPr lang="en-US"/>
          </a:p>
        </p:txBody>
      </p:sp>
      <p:sp>
        <p:nvSpPr>
          <p:cNvPr id="15" name="Text 13"/>
          <p:cNvSpPr txBox="1"/>
          <p:nvPr/>
        </p:nvSpPr>
        <p:spPr>
          <a:xfrm>
            <a:off x="685800" y="3794760"/>
            <a:ext cx="3474720" cy="228600"/>
          </a:xfrm>
          <a:prstGeom prst="rect">
            <a:avLst/>
          </a:prstGeom>
          <a:noFill/>
          <a:ln/>
        </p:spPr>
        <p:txBody>
          <a:bodyPr wrap="square" lIns="0" tIns="0" rIns="0" bIns="0" rtlCol="0" anchor="t"/>
          <a:lstStyle/>
          <a:p>
            <a:pPr marL="0" indent="0">
              <a:buNone/>
            </a:pPr>
            <a:r>
              <a:rPr lang="en-US" sz="1100" b="1" dirty="0">
                <a:solidFill>
                  <a:srgbClr val="5EEAD4"/>
                </a:solidFill>
                <a:latin typeface="Calibri" pitchFamily="34" charset="0"/>
                <a:ea typeface="Calibri" pitchFamily="34" charset="-122"/>
                <a:cs typeface="Calibri" pitchFamily="34" charset="-120"/>
              </a:rPr>
              <a:t>Runs at commit time</a:t>
            </a:r>
            <a:endParaRPr lang="en-US" sz="1100" dirty="0"/>
          </a:p>
        </p:txBody>
      </p:sp>
      <p:sp>
        <p:nvSpPr>
          <p:cNvPr id="16" name="Text 14"/>
          <p:cNvSpPr txBox="1"/>
          <p:nvPr/>
        </p:nvSpPr>
        <p:spPr>
          <a:xfrm>
            <a:off x="685800" y="4096512"/>
            <a:ext cx="3520440" cy="274320"/>
          </a:xfrm>
          <a:prstGeom prst="rect">
            <a:avLst/>
          </a:prstGeom>
          <a:noFill/>
          <a:ln/>
        </p:spPr>
        <p:txBody>
          <a:bodyPr wrap="square" lIns="0" tIns="0" rIns="0" bIns="0" rtlCol="0" anchor="t"/>
          <a:lstStyle/>
          <a:p>
            <a:pPr marL="0" indent="0">
              <a:buNone/>
            </a:pPr>
            <a:r>
              <a:rPr lang="en-US" sz="1150" b="1" dirty="0">
                <a:solidFill>
                  <a:srgbClr val="FFFFFF"/>
                </a:solidFill>
                <a:latin typeface="Courier New" pitchFamily="34" charset="0"/>
                <a:ea typeface="Courier New" pitchFamily="34" charset="-122"/>
                <a:cs typeface="Courier New" pitchFamily="34" charset="-120"/>
              </a:rPr>
              <a:t>commit-msg  &gt;  aistctl validate-commit</a:t>
            </a:r>
            <a:endParaRPr lang="en-US" sz="1150" dirty="0"/>
          </a:p>
        </p:txBody>
      </p:sp>
      <p:sp>
        <p:nvSpPr>
          <p:cNvPr id="17" name="Shape 15"/>
          <p:cNvSpPr/>
          <p:nvPr/>
        </p:nvSpPr>
        <p:spPr>
          <a:xfrm>
            <a:off x="4754880" y="1444752"/>
            <a:ext cx="502920" cy="502920"/>
          </a:xfrm>
          <a:prstGeom prst="ellipse">
            <a:avLst/>
          </a:prstGeom>
          <a:solidFill>
            <a:srgbClr val="0E9F9A"/>
          </a:solidFill>
          <a:ln w="12700">
            <a:solidFill>
              <a:srgbClr val="0E9F9A"/>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4880610" y="1570482"/>
            <a:ext cx="251460" cy="251460"/>
          </a:xfrm>
          <a:prstGeom prst="rect">
            <a:avLst/>
          </a:prstGeom>
        </p:spPr>
      </p:pic>
      <p:sp>
        <p:nvSpPr>
          <p:cNvPr id="19" name="Text 16"/>
          <p:cNvSpPr txBox="1"/>
          <p:nvPr/>
        </p:nvSpPr>
        <p:spPr>
          <a:xfrm>
            <a:off x="5486400" y="1417320"/>
            <a:ext cx="320040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Configured globally</a:t>
            </a:r>
            <a:endParaRPr lang="en-US" sz="1500" dirty="0"/>
          </a:p>
        </p:txBody>
      </p:sp>
      <p:sp>
        <p:nvSpPr>
          <p:cNvPr id="20" name="Text 17"/>
          <p:cNvSpPr txBox="1"/>
          <p:nvPr/>
        </p:nvSpPr>
        <p:spPr>
          <a:xfrm>
            <a:off x="5486400" y="1719072"/>
            <a:ext cx="3200400" cy="54864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hook is installed once through the global Git configuration.</a:t>
            </a:r>
            <a:endParaRPr lang="en-US" sz="1200" dirty="0"/>
          </a:p>
        </p:txBody>
      </p:sp>
      <p:sp>
        <p:nvSpPr>
          <p:cNvPr id="21" name="Shape 18"/>
          <p:cNvSpPr/>
          <p:nvPr/>
        </p:nvSpPr>
        <p:spPr>
          <a:xfrm>
            <a:off x="4754880" y="2542032"/>
            <a:ext cx="502920" cy="502920"/>
          </a:xfrm>
          <a:prstGeom prst="ellipse">
            <a:avLst/>
          </a:prstGeom>
          <a:solidFill>
            <a:srgbClr val="0E9F9A"/>
          </a:solidFill>
          <a:ln w="12700">
            <a:solidFill>
              <a:srgbClr val="0E9F9A"/>
            </a:solidFill>
            <a:prstDash val="solid"/>
          </a:ln>
        </p:spPr>
        <p:txBody>
          <a:bodyPr/>
          <a:lstStyle/>
          <a:p>
            <a:endParaRPr lang="en-US"/>
          </a:p>
        </p:txBody>
      </p:sp>
      <p:pic>
        <p:nvPicPr>
          <p:cNvPr id="22" name="Image 1" descr="preencoded.png"/>
          <p:cNvPicPr>
            <a:picLocks noChangeAspect="1"/>
          </p:cNvPicPr>
          <p:nvPr/>
        </p:nvPicPr>
        <p:blipFill>
          <a:blip r:embed="rId4"/>
          <a:stretch>
            <a:fillRect/>
          </a:stretch>
        </p:blipFill>
        <p:spPr>
          <a:xfrm>
            <a:off x="4880610" y="2667762"/>
            <a:ext cx="251460" cy="251460"/>
          </a:xfrm>
          <a:prstGeom prst="rect">
            <a:avLst/>
          </a:prstGeom>
        </p:spPr>
      </p:pic>
      <p:sp>
        <p:nvSpPr>
          <p:cNvPr id="23" name="Text 19"/>
          <p:cNvSpPr txBox="1"/>
          <p:nvPr/>
        </p:nvSpPr>
        <p:spPr>
          <a:xfrm>
            <a:off x="5486400" y="2514600"/>
            <a:ext cx="320040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Stops the commit</a:t>
            </a:r>
            <a:endParaRPr lang="en-US" sz="1500" dirty="0"/>
          </a:p>
        </p:txBody>
      </p:sp>
      <p:sp>
        <p:nvSpPr>
          <p:cNvPr id="24" name="Text 20"/>
          <p:cNvSpPr txBox="1"/>
          <p:nvPr/>
        </p:nvSpPr>
        <p:spPr>
          <a:xfrm>
            <a:off x="5486400" y="2816352"/>
            <a:ext cx="3200400" cy="54864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The commit-msg hook runs at commit time, before the commit is created.</a:t>
            </a:r>
            <a:endParaRPr lang="en-US" sz="1200" dirty="0"/>
          </a:p>
        </p:txBody>
      </p:sp>
      <p:sp>
        <p:nvSpPr>
          <p:cNvPr id="25" name="Shape 21"/>
          <p:cNvSpPr/>
          <p:nvPr/>
        </p:nvSpPr>
        <p:spPr>
          <a:xfrm>
            <a:off x="4754880" y="3639312"/>
            <a:ext cx="502920" cy="502920"/>
          </a:xfrm>
          <a:prstGeom prst="ellipse">
            <a:avLst/>
          </a:prstGeom>
          <a:solidFill>
            <a:srgbClr val="0E9F9A"/>
          </a:solidFill>
          <a:ln w="12700">
            <a:solidFill>
              <a:srgbClr val="0E9F9A"/>
            </a:solidFill>
            <a:prstDash val="solid"/>
          </a:ln>
        </p:spPr>
        <p:txBody>
          <a:bodyPr/>
          <a:lstStyle/>
          <a:p>
            <a:endParaRPr lang="en-US"/>
          </a:p>
        </p:txBody>
      </p:sp>
      <p:pic>
        <p:nvPicPr>
          <p:cNvPr id="26" name="Image 2" descr="preencoded.png"/>
          <p:cNvPicPr>
            <a:picLocks noChangeAspect="1"/>
          </p:cNvPicPr>
          <p:nvPr/>
        </p:nvPicPr>
        <p:blipFill>
          <a:blip r:embed="rId5"/>
          <a:stretch>
            <a:fillRect/>
          </a:stretch>
        </p:blipFill>
        <p:spPr>
          <a:xfrm>
            <a:off x="4880610" y="3765042"/>
            <a:ext cx="251460" cy="251460"/>
          </a:xfrm>
          <a:prstGeom prst="rect">
            <a:avLst/>
          </a:prstGeom>
        </p:spPr>
      </p:pic>
      <p:sp>
        <p:nvSpPr>
          <p:cNvPr id="27" name="Text 22"/>
          <p:cNvSpPr txBox="1"/>
          <p:nvPr/>
        </p:nvSpPr>
        <p:spPr>
          <a:xfrm>
            <a:off x="5486400" y="3611880"/>
            <a:ext cx="3200400" cy="274320"/>
          </a:xfrm>
          <a:prstGeom prst="rect">
            <a:avLst/>
          </a:prstGeom>
          <a:noFill/>
          <a:ln/>
        </p:spPr>
        <p:txBody>
          <a:bodyPr wrap="square" lIns="0" tIns="0" rIns="0" bIns="0" rtlCol="0" anchor="t"/>
          <a:lstStyle/>
          <a:p>
            <a:pPr marL="0" indent="0">
              <a:buNone/>
            </a:pPr>
            <a:r>
              <a:rPr lang="en-US" sz="1500" b="1" dirty="0">
                <a:solidFill>
                  <a:srgbClr val="0B1F3A"/>
                </a:solidFill>
                <a:latin typeface="Calibri" pitchFamily="34" charset="0"/>
                <a:ea typeface="Calibri" pitchFamily="34" charset="-122"/>
                <a:cs typeface="Calibri" pitchFamily="34" charset="-120"/>
              </a:rPr>
              <a:t>Local enforcement</a:t>
            </a:r>
            <a:endParaRPr lang="en-US" sz="1500" dirty="0"/>
          </a:p>
        </p:txBody>
      </p:sp>
      <p:sp>
        <p:nvSpPr>
          <p:cNvPr id="28" name="Text 23"/>
          <p:cNvSpPr txBox="1"/>
          <p:nvPr/>
        </p:nvSpPr>
        <p:spPr>
          <a:xfrm>
            <a:off x="5486400" y="3913632"/>
            <a:ext cx="3200400" cy="54864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Validation runs on the developer machine and involves no GitHub component.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SECURITY</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Security &amp; Configuration</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371600"/>
            <a:ext cx="420624" cy="420624"/>
          </a:xfrm>
          <a:prstGeom prst="ellipse">
            <a:avLst/>
          </a:prstGeom>
          <a:solidFill>
            <a:srgbClr val="0E9F9A"/>
          </a:solidFill>
          <a:ln w="12700">
            <a:solidFill>
              <a:srgbClr val="0E9F9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62356" y="1476756"/>
            <a:ext cx="210312" cy="210312"/>
          </a:xfrm>
          <a:prstGeom prst="rect">
            <a:avLst/>
          </a:prstGeom>
        </p:spPr>
      </p:pic>
      <p:sp>
        <p:nvSpPr>
          <p:cNvPr id="8" name="Text 5"/>
          <p:cNvSpPr txBox="1"/>
          <p:nvPr/>
        </p:nvSpPr>
        <p:spPr>
          <a:xfrm>
            <a:off x="1051560" y="1353312"/>
            <a:ext cx="4206240" cy="228600"/>
          </a:xfrm>
          <a:prstGeom prst="rect">
            <a:avLst/>
          </a:prstGeom>
          <a:noFill/>
          <a:ln/>
        </p:spPr>
        <p:txBody>
          <a:bodyPr wrap="square" lIns="0" tIns="0" rIns="0" bIns="0" rtlCol="0" anchor="t"/>
          <a:lstStyle/>
          <a:p>
            <a:pPr marL="0" indent="0">
              <a:buNone/>
            </a:pPr>
            <a:r>
              <a:rPr lang="en-US" sz="1350" b="1" dirty="0">
                <a:solidFill>
                  <a:srgbClr val="0B1F3A"/>
                </a:solidFill>
                <a:latin typeface="Calibri" pitchFamily="34" charset="0"/>
                <a:ea typeface="Calibri" pitchFamily="34" charset="-122"/>
                <a:cs typeface="Calibri" pitchFamily="34" charset="-120"/>
              </a:rPr>
              <a:t>No credentials in the MSI</a:t>
            </a:r>
            <a:endParaRPr lang="en-US" sz="1350" dirty="0"/>
          </a:p>
        </p:txBody>
      </p:sp>
      <p:sp>
        <p:nvSpPr>
          <p:cNvPr id="9" name="Text 6"/>
          <p:cNvSpPr txBox="1"/>
          <p:nvPr/>
        </p:nvSpPr>
        <p:spPr>
          <a:xfrm>
            <a:off x="1051560" y="1600200"/>
            <a:ext cx="4297680" cy="27432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Only the executable is packaged; Jira settings are created locally.</a:t>
            </a:r>
            <a:endParaRPr lang="en-US" sz="1100" dirty="0"/>
          </a:p>
        </p:txBody>
      </p:sp>
      <p:sp>
        <p:nvSpPr>
          <p:cNvPr id="10" name="Shape 7"/>
          <p:cNvSpPr/>
          <p:nvPr/>
        </p:nvSpPr>
        <p:spPr>
          <a:xfrm>
            <a:off x="457200" y="1993392"/>
            <a:ext cx="420624" cy="420624"/>
          </a:xfrm>
          <a:prstGeom prst="ellipse">
            <a:avLst/>
          </a:prstGeom>
          <a:solidFill>
            <a:srgbClr val="0E9F9A"/>
          </a:solidFill>
          <a:ln w="12700">
            <a:solidFill>
              <a:srgbClr val="0E9F9A"/>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562356" y="2098548"/>
            <a:ext cx="210312" cy="210312"/>
          </a:xfrm>
          <a:prstGeom prst="rect">
            <a:avLst/>
          </a:prstGeom>
        </p:spPr>
      </p:pic>
      <p:sp>
        <p:nvSpPr>
          <p:cNvPr id="12" name="Text 8"/>
          <p:cNvSpPr txBox="1"/>
          <p:nvPr/>
        </p:nvSpPr>
        <p:spPr>
          <a:xfrm>
            <a:off x="1051560" y="1975104"/>
            <a:ext cx="4206240" cy="228600"/>
          </a:xfrm>
          <a:prstGeom prst="rect">
            <a:avLst/>
          </a:prstGeom>
          <a:noFill/>
          <a:ln/>
        </p:spPr>
        <p:txBody>
          <a:bodyPr wrap="square" lIns="0" tIns="0" rIns="0" bIns="0" rtlCol="0" anchor="t"/>
          <a:lstStyle/>
          <a:p>
            <a:pPr marL="0" indent="0">
              <a:buNone/>
            </a:pPr>
            <a:r>
              <a:rPr lang="en-US" sz="1350" b="1" dirty="0">
                <a:solidFill>
                  <a:srgbClr val="0B1F3A"/>
                </a:solidFill>
                <a:latin typeface="Calibri" pitchFamily="34" charset="0"/>
                <a:ea typeface="Calibri" pitchFamily="34" charset="-122"/>
                <a:cs typeface="Calibri" pitchFamily="34" charset="-120"/>
              </a:rPr>
              <a:t>Hidden token input</a:t>
            </a:r>
            <a:endParaRPr lang="en-US" sz="1350" dirty="0"/>
          </a:p>
        </p:txBody>
      </p:sp>
      <p:sp>
        <p:nvSpPr>
          <p:cNvPr id="13" name="Text 9"/>
          <p:cNvSpPr txBox="1"/>
          <p:nvPr/>
        </p:nvSpPr>
        <p:spPr>
          <a:xfrm>
            <a:off x="1051560" y="2221992"/>
            <a:ext cx="4297680" cy="27432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The API token is entered through hidden input and is never displayed.</a:t>
            </a:r>
            <a:endParaRPr lang="en-US" sz="1100" dirty="0"/>
          </a:p>
        </p:txBody>
      </p:sp>
      <p:sp>
        <p:nvSpPr>
          <p:cNvPr id="14" name="Shape 10"/>
          <p:cNvSpPr/>
          <p:nvPr/>
        </p:nvSpPr>
        <p:spPr>
          <a:xfrm>
            <a:off x="457200" y="2615184"/>
            <a:ext cx="420624" cy="420624"/>
          </a:xfrm>
          <a:prstGeom prst="ellipse">
            <a:avLst/>
          </a:prstGeom>
          <a:solidFill>
            <a:srgbClr val="0E9F9A"/>
          </a:solidFill>
          <a:ln w="12700">
            <a:solidFill>
              <a:srgbClr val="0E9F9A"/>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62356" y="2720340"/>
            <a:ext cx="210312" cy="210312"/>
          </a:xfrm>
          <a:prstGeom prst="rect">
            <a:avLst/>
          </a:prstGeom>
        </p:spPr>
      </p:pic>
      <p:sp>
        <p:nvSpPr>
          <p:cNvPr id="16" name="Text 11"/>
          <p:cNvSpPr txBox="1"/>
          <p:nvPr/>
        </p:nvSpPr>
        <p:spPr>
          <a:xfrm>
            <a:off x="1051560" y="2596896"/>
            <a:ext cx="4206240" cy="228600"/>
          </a:xfrm>
          <a:prstGeom prst="rect">
            <a:avLst/>
          </a:prstGeom>
          <a:noFill/>
          <a:ln/>
        </p:spPr>
        <p:txBody>
          <a:bodyPr wrap="square" lIns="0" tIns="0" rIns="0" bIns="0" rtlCol="0" anchor="t"/>
          <a:lstStyle/>
          <a:p>
            <a:pPr marL="0" indent="0">
              <a:buNone/>
            </a:pPr>
            <a:r>
              <a:rPr lang="en-US" sz="1350" b="1" dirty="0">
                <a:solidFill>
                  <a:srgbClr val="0B1F3A"/>
                </a:solidFill>
                <a:latin typeface="Calibri" pitchFamily="34" charset="0"/>
                <a:ea typeface="Calibri" pitchFamily="34" charset="-122"/>
                <a:cs typeface="Calibri" pitchFamily="34" charset="-120"/>
              </a:rPr>
              <a:t>Validated before saving</a:t>
            </a:r>
            <a:endParaRPr lang="en-US" sz="1350" dirty="0"/>
          </a:p>
        </p:txBody>
      </p:sp>
      <p:sp>
        <p:nvSpPr>
          <p:cNvPr id="17" name="Text 12"/>
          <p:cNvSpPr txBox="1"/>
          <p:nvPr/>
        </p:nvSpPr>
        <p:spPr>
          <a:xfrm>
            <a:off x="1051560" y="2843784"/>
            <a:ext cx="4297680" cy="27432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Jira credentials are checked against Jira before they are stored.</a:t>
            </a:r>
            <a:endParaRPr lang="en-US" sz="1100" dirty="0"/>
          </a:p>
        </p:txBody>
      </p:sp>
      <p:sp>
        <p:nvSpPr>
          <p:cNvPr id="18" name="Shape 13"/>
          <p:cNvSpPr/>
          <p:nvPr/>
        </p:nvSpPr>
        <p:spPr>
          <a:xfrm>
            <a:off x="457200" y="3236976"/>
            <a:ext cx="420624" cy="420624"/>
          </a:xfrm>
          <a:prstGeom prst="ellipse">
            <a:avLst/>
          </a:prstGeom>
          <a:solidFill>
            <a:srgbClr val="0E9F9A"/>
          </a:solidFill>
          <a:ln w="12700">
            <a:solidFill>
              <a:srgbClr val="0E9F9A"/>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562356" y="3342132"/>
            <a:ext cx="210312" cy="210312"/>
          </a:xfrm>
          <a:prstGeom prst="rect">
            <a:avLst/>
          </a:prstGeom>
        </p:spPr>
      </p:pic>
      <p:sp>
        <p:nvSpPr>
          <p:cNvPr id="20" name="Text 14"/>
          <p:cNvSpPr txBox="1"/>
          <p:nvPr/>
        </p:nvSpPr>
        <p:spPr>
          <a:xfrm>
            <a:off x="1051560" y="3218688"/>
            <a:ext cx="4206240" cy="228600"/>
          </a:xfrm>
          <a:prstGeom prst="rect">
            <a:avLst/>
          </a:prstGeom>
          <a:noFill/>
          <a:ln/>
        </p:spPr>
        <p:txBody>
          <a:bodyPr wrap="square" lIns="0" tIns="0" rIns="0" bIns="0" rtlCol="0" anchor="t"/>
          <a:lstStyle/>
          <a:p>
            <a:pPr marL="0" indent="0">
              <a:buNone/>
            </a:pPr>
            <a:r>
              <a:rPr lang="en-US" sz="1350" b="1" dirty="0">
                <a:solidFill>
                  <a:srgbClr val="0B1F3A"/>
                </a:solidFill>
                <a:latin typeface="Calibri" pitchFamily="34" charset="0"/>
                <a:ea typeface="Calibri" pitchFamily="34" charset="-122"/>
                <a:cs typeface="Calibri" pitchFamily="34" charset="-120"/>
              </a:rPr>
              <a:t>Safe token renewal</a:t>
            </a:r>
            <a:endParaRPr lang="en-US" sz="1350" dirty="0"/>
          </a:p>
        </p:txBody>
      </p:sp>
      <p:sp>
        <p:nvSpPr>
          <p:cNvPr id="21" name="Text 15"/>
          <p:cNvSpPr txBox="1"/>
          <p:nvPr/>
        </p:nvSpPr>
        <p:spPr>
          <a:xfrm>
            <a:off x="1051560" y="3465576"/>
            <a:ext cx="4297680" cy="27432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A failed, cancelled, or invalid renewal keeps the existing valid token.</a:t>
            </a:r>
            <a:endParaRPr lang="en-US" sz="1100" dirty="0"/>
          </a:p>
        </p:txBody>
      </p:sp>
      <p:sp>
        <p:nvSpPr>
          <p:cNvPr id="22" name="Shape 16"/>
          <p:cNvSpPr/>
          <p:nvPr/>
        </p:nvSpPr>
        <p:spPr>
          <a:xfrm>
            <a:off x="457200" y="3858768"/>
            <a:ext cx="420624" cy="420624"/>
          </a:xfrm>
          <a:prstGeom prst="ellipse">
            <a:avLst/>
          </a:prstGeom>
          <a:solidFill>
            <a:srgbClr val="0E9F9A"/>
          </a:solidFill>
          <a:ln w="12700">
            <a:solidFill>
              <a:srgbClr val="0E9F9A"/>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562356" y="3963924"/>
            <a:ext cx="210312" cy="210312"/>
          </a:xfrm>
          <a:prstGeom prst="rect">
            <a:avLst/>
          </a:prstGeom>
        </p:spPr>
      </p:pic>
      <p:sp>
        <p:nvSpPr>
          <p:cNvPr id="24" name="Text 17"/>
          <p:cNvSpPr txBox="1"/>
          <p:nvPr/>
        </p:nvSpPr>
        <p:spPr>
          <a:xfrm>
            <a:off x="1051560" y="3840480"/>
            <a:ext cx="4206240" cy="228600"/>
          </a:xfrm>
          <a:prstGeom prst="rect">
            <a:avLst/>
          </a:prstGeom>
          <a:noFill/>
          <a:ln/>
        </p:spPr>
        <p:txBody>
          <a:bodyPr wrap="square" lIns="0" tIns="0" rIns="0" bIns="0" rtlCol="0" anchor="t"/>
          <a:lstStyle/>
          <a:p>
            <a:pPr marL="0" indent="0">
              <a:buNone/>
            </a:pPr>
            <a:r>
              <a:rPr lang="en-US" sz="1350" b="1" dirty="0">
                <a:solidFill>
                  <a:srgbClr val="0B1F3A"/>
                </a:solidFill>
                <a:latin typeface="Calibri" pitchFamily="34" charset="0"/>
                <a:ea typeface="Calibri" pitchFamily="34" charset="-122"/>
                <a:cs typeface="Calibri" pitchFamily="34" charset="-120"/>
              </a:rPr>
              <a:t>Atomic configuration writes</a:t>
            </a:r>
            <a:endParaRPr lang="en-US" sz="1350" dirty="0"/>
          </a:p>
        </p:txBody>
      </p:sp>
      <p:sp>
        <p:nvSpPr>
          <p:cNvPr id="25" name="Text 18"/>
          <p:cNvSpPr txBox="1"/>
          <p:nvPr/>
        </p:nvSpPr>
        <p:spPr>
          <a:xfrm>
            <a:off x="1051560" y="4087368"/>
            <a:ext cx="4297680" cy="27432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Configuration changes are applied as a single atomic write.</a:t>
            </a:r>
            <a:endParaRPr lang="en-US" sz="1100" dirty="0"/>
          </a:p>
        </p:txBody>
      </p:sp>
      <p:sp>
        <p:nvSpPr>
          <p:cNvPr id="26" name="Shape 19"/>
          <p:cNvSpPr/>
          <p:nvPr/>
        </p:nvSpPr>
        <p:spPr>
          <a:xfrm>
            <a:off x="5532120" y="1371600"/>
            <a:ext cx="3154680" cy="3108960"/>
          </a:xfrm>
          <a:prstGeom prst="roundRect">
            <a:avLst>
              <a:gd name="adj" fmla="val 2941"/>
            </a:avLst>
          </a:prstGeom>
          <a:solidFill>
            <a:srgbClr val="0B1F3A"/>
          </a:solidFill>
          <a:ln w="12700">
            <a:solidFill>
              <a:srgbClr val="0B1F3A"/>
            </a:solidFill>
            <a:prstDash val="solid"/>
          </a:ln>
        </p:spPr>
        <p:txBody>
          <a:bodyPr/>
          <a:lstStyle/>
          <a:p>
            <a:endParaRPr lang="en-US"/>
          </a:p>
        </p:txBody>
      </p:sp>
      <p:sp>
        <p:nvSpPr>
          <p:cNvPr id="27" name="Text 20"/>
          <p:cNvSpPr txBox="1"/>
          <p:nvPr/>
        </p:nvSpPr>
        <p:spPr>
          <a:xfrm>
            <a:off x="5760720" y="1536192"/>
            <a:ext cx="2743200" cy="228600"/>
          </a:xfrm>
          <a:prstGeom prst="rect">
            <a:avLst/>
          </a:prstGeom>
          <a:noFill/>
          <a:ln/>
        </p:spPr>
        <p:txBody>
          <a:bodyPr wrap="square" lIns="0" tIns="0" rIns="0" bIns="0" rtlCol="0" anchor="t"/>
          <a:lstStyle/>
          <a:p>
            <a:pPr marL="0" indent="0">
              <a:buNone/>
            </a:pPr>
            <a:r>
              <a:rPr lang="en-US" sz="1000" b="1" dirty="0">
                <a:solidFill>
                  <a:srgbClr val="5EEAD4"/>
                </a:solidFill>
                <a:latin typeface="Courier New" pitchFamily="34" charset="0"/>
                <a:ea typeface="Courier New" pitchFamily="34" charset="-122"/>
                <a:cs typeface="Courier New" pitchFamily="34" charset="-120"/>
              </a:rPr>
              <a:t>aistctl status</a:t>
            </a:r>
            <a:endParaRPr lang="en-US" sz="1000" dirty="0"/>
          </a:p>
        </p:txBody>
      </p:sp>
      <p:sp>
        <p:nvSpPr>
          <p:cNvPr id="28" name="Text 21"/>
          <p:cNvSpPr txBox="1"/>
          <p:nvPr/>
        </p:nvSpPr>
        <p:spPr>
          <a:xfrm>
            <a:off x="5760720" y="1874520"/>
            <a:ext cx="2788920" cy="2148840"/>
          </a:xfrm>
          <a:prstGeom prst="rect">
            <a:avLst/>
          </a:prstGeom>
          <a:noFill/>
          <a:ln/>
        </p:spPr>
        <p:txBody>
          <a:bodyPr wrap="square" lIns="0" tIns="0" rIns="0" bIns="0" rtlCol="0" anchor="t"/>
          <a:lstStyle/>
          <a:p>
            <a:pPr marL="0" indent="0">
              <a:buNone/>
            </a:pPr>
            <a:r>
              <a:rPr lang="en-US" sz="900" b="1" dirty="0">
                <a:solidFill>
                  <a:srgbClr val="FFFFFF"/>
                </a:solidFill>
                <a:latin typeface="Courier New" pitchFamily="34" charset="0"/>
                <a:ea typeface="Courier New" pitchFamily="34" charset="-122"/>
                <a:cs typeface="Courier New" pitchFamily="34" charset="-120"/>
              </a:rPr>
              <a:t>AIST Git Validator</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buNone/>
            </a:pPr>
            <a:r>
              <a:rPr lang="en-US" sz="900" b="1" dirty="0">
                <a:solidFill>
                  <a:srgbClr val="5EEAD4"/>
                </a:solidFill>
                <a:latin typeface="Courier New" pitchFamily="34" charset="0"/>
                <a:ea typeface="Courier New" pitchFamily="34" charset="-122"/>
                <a:cs typeface="Courier New" pitchFamily="34" charset="-120"/>
              </a:rPr>
              <a:t>CLI</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CLI: installed executable</a:t>
            </a:r>
            <a:endParaRPr lang="en-US" sz="900" dirty="0"/>
          </a:p>
          <a:p>
            <a:pPr marL="0" indent="0">
              <a:buNone/>
            </a:pPr>
            <a:r>
              <a:rPr lang="en-US" sz="900" b="1" dirty="0">
                <a:solidFill>
                  <a:srgbClr val="5EEAD4"/>
                </a:solidFill>
                <a:latin typeface="Courier New" pitchFamily="34" charset="0"/>
                <a:ea typeface="Courier New" pitchFamily="34" charset="-122"/>
                <a:cs typeface="Courier New" pitchFamily="34" charset="-120"/>
              </a:rPr>
              <a:t>Git</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Git: installed</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Commit hook: installed</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core.hooksPath: configured</a:t>
            </a:r>
            <a:endParaRPr lang="en-US" sz="900" dirty="0"/>
          </a:p>
          <a:p>
            <a:pPr marL="0" indent="0">
              <a:buNone/>
            </a:pPr>
            <a:r>
              <a:rPr lang="en-US" sz="900" b="1" dirty="0">
                <a:solidFill>
                  <a:srgbClr val="5EEAD4"/>
                </a:solidFill>
                <a:latin typeface="Courier New" pitchFamily="34" charset="0"/>
                <a:ea typeface="Courier New" pitchFamily="34" charset="-122"/>
                <a:cs typeface="Courier New" pitchFamily="34" charset="-120"/>
              </a:rPr>
              <a:t>Jira</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Jira URL: configured</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Jira email: configured</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API token: configured</a:t>
            </a:r>
            <a:endParaRPr lang="en-US" sz="900" dirty="0"/>
          </a:p>
          <a:p>
            <a:pPr marL="0" indent="0">
              <a:buNone/>
            </a:pPr>
            <a:r>
              <a:rPr lang="en-US" sz="900" dirty="0">
                <a:solidFill>
                  <a:srgbClr val="4ADE80"/>
                </a:solidFill>
                <a:latin typeface="Courier New" pitchFamily="34" charset="0"/>
                <a:ea typeface="Courier New" pitchFamily="34" charset="-122"/>
                <a:cs typeface="Courier New" pitchFamily="34" charset="-120"/>
              </a:rPr>
              <a:t>  Token status: valid</a:t>
            </a:r>
            <a:endParaRPr lang="en-US" sz="900" dirty="0"/>
          </a:p>
          <a:p>
            <a:pPr marL="0" indent="0">
              <a:buNone/>
            </a:pPr>
            <a:r>
              <a:rPr lang="en-US" sz="900" dirty="0">
                <a:solidFill>
                  <a:srgbClr val="E2E8F0"/>
                </a:solidFill>
                <a:latin typeface="Courier New" pitchFamily="34" charset="0"/>
                <a:ea typeface="Courier New" pitchFamily="34" charset="-122"/>
                <a:cs typeface="Courier New" pitchFamily="34" charset="-120"/>
              </a:rPr>
              <a:t>  Token expiration: configured</a:t>
            </a:r>
            <a:endParaRPr lang="en-US" sz="900" dirty="0"/>
          </a:p>
        </p:txBody>
      </p:sp>
      <p:sp>
        <p:nvSpPr>
          <p:cNvPr id="29" name="Text 22"/>
          <p:cNvSpPr txBox="1"/>
          <p:nvPr/>
        </p:nvSpPr>
        <p:spPr>
          <a:xfrm>
            <a:off x="5760720" y="4114800"/>
            <a:ext cx="2788920" cy="274320"/>
          </a:xfrm>
          <a:prstGeom prst="rect">
            <a:avLst/>
          </a:prstGeom>
          <a:noFill/>
          <a:ln/>
        </p:spPr>
        <p:txBody>
          <a:bodyPr wrap="square" lIns="0" tIns="0" rIns="0" bIns="0" rtlCol="0" anchor="t"/>
          <a:lstStyle/>
          <a:p>
            <a:pPr marL="0" indent="0">
              <a:buNone/>
            </a:pPr>
            <a:r>
              <a:rPr lang="en-US" sz="950" i="1" dirty="0">
                <a:solidFill>
                  <a:srgbClr val="94A3B8"/>
                </a:solidFill>
                <a:latin typeface="Calibri" pitchFamily="34" charset="0"/>
                <a:ea typeface="Calibri" pitchFamily="34" charset="-122"/>
                <a:cs typeface="Calibri" pitchFamily="34" charset="-120"/>
              </a:rPr>
              <a:t>Conceptual output. The token itself is never shown.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IN PRACTICE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Validation Scenarios</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457200" y="1325880"/>
            <a:ext cx="4023360" cy="1554480"/>
          </a:xfrm>
          <a:prstGeom prst="roundRect">
            <a:avLst>
              <a:gd name="adj" fmla="val 4706"/>
            </a:avLst>
          </a:prstGeom>
          <a:solidFill>
            <a:srgbClr val="0B1F3A"/>
          </a:solidFill>
          <a:ln w="12700">
            <a:solidFill>
              <a:srgbClr val="0B1F3A"/>
            </a:solidFill>
            <a:prstDash val="solid"/>
          </a:ln>
        </p:spPr>
        <p:txBody>
          <a:bodyPr/>
          <a:lstStyle/>
          <a:p>
            <a:endParaRPr lang="en-US"/>
          </a:p>
        </p:txBody>
      </p:sp>
      <p:sp>
        <p:nvSpPr>
          <p:cNvPr id="7" name="Text 5"/>
          <p:cNvSpPr txBox="1"/>
          <p:nvPr/>
        </p:nvSpPr>
        <p:spPr>
          <a:xfrm>
            <a:off x="640080" y="1444752"/>
            <a:ext cx="2560320" cy="228600"/>
          </a:xfrm>
          <a:prstGeom prst="rect">
            <a:avLst/>
          </a:prstGeom>
          <a:noFill/>
          <a:ln/>
        </p:spPr>
        <p:txBody>
          <a:bodyPr wrap="square" lIns="0" tIns="0" rIns="0" bIns="0" rtlCol="0" anchor="t"/>
          <a:lstStyle/>
          <a:p>
            <a:pPr marL="0" indent="0">
              <a:buNone/>
            </a:pPr>
            <a:r>
              <a:rPr lang="en-US" sz="1150" b="1" dirty="0">
                <a:solidFill>
                  <a:srgbClr val="CADCFC"/>
                </a:solidFill>
                <a:latin typeface="Calibri" pitchFamily="34" charset="0"/>
                <a:ea typeface="Calibri" pitchFamily="34" charset="-122"/>
                <a:cs typeface="Calibri" pitchFamily="34" charset="-120"/>
              </a:rPr>
              <a:t>Valid Jira issue</a:t>
            </a:r>
            <a:endParaRPr lang="en-US" sz="1150" dirty="0"/>
          </a:p>
        </p:txBody>
      </p:sp>
      <p:sp>
        <p:nvSpPr>
          <p:cNvPr id="8" name="Text 6"/>
          <p:cNvSpPr txBox="1"/>
          <p:nvPr/>
        </p:nvSpPr>
        <p:spPr>
          <a:xfrm>
            <a:off x="3474720" y="1435608"/>
            <a:ext cx="822960" cy="237744"/>
          </a:xfrm>
          <a:prstGeom prst="roundRect">
            <a:avLst>
              <a:gd name="adj" fmla="val 19231"/>
            </a:avLst>
          </a:prstGeom>
          <a:solidFill>
            <a:srgbClr val="16A34A"/>
          </a:solidFill>
          <a:ln>
            <a:solidFill>
              <a:srgbClr val="16A34A"/>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ALLOWED</a:t>
            </a:r>
            <a:endParaRPr lang="en-US" sz="900" dirty="0"/>
          </a:p>
        </p:txBody>
      </p:sp>
      <p:sp>
        <p:nvSpPr>
          <p:cNvPr id="9" name="Text 7"/>
          <p:cNvSpPr txBox="1"/>
          <p:nvPr/>
        </p:nvSpPr>
        <p:spPr>
          <a:xfrm>
            <a:off x="640080" y="1783080"/>
            <a:ext cx="3657600" cy="1005840"/>
          </a:xfrm>
          <a:prstGeom prst="rect">
            <a:avLst/>
          </a:prstGeom>
          <a:noFill/>
          <a:ln/>
        </p:spPr>
        <p:txBody>
          <a:bodyPr wrap="square" lIns="0" tIns="0" rIns="0" bIns="0" rtlCol="0" anchor="t"/>
          <a:lstStyle/>
          <a:p>
            <a:pPr marL="0" indent="0">
              <a:buNone/>
            </a:pPr>
            <a:r>
              <a:rPr lang="en-US" sz="950" dirty="0">
                <a:solidFill>
                  <a:srgbClr val="FFFFFF"/>
                </a:solidFill>
                <a:latin typeface="Courier New" pitchFamily="34" charset="0"/>
                <a:ea typeface="Courier New" pitchFamily="34" charset="-122"/>
                <a:cs typeface="Courier New" pitchFamily="34" charset="-120"/>
              </a:rPr>
              <a:t>$ git commit -m "AIST-6 Implement validation"</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4ADE80"/>
                </a:solidFill>
                <a:latin typeface="Courier New" pitchFamily="34" charset="0"/>
                <a:ea typeface="Courier New" pitchFamily="34" charset="-122"/>
                <a:cs typeface="Courier New" pitchFamily="34" charset="-120"/>
              </a:rPr>
              <a:t>Commit succeeds.</a:t>
            </a:r>
            <a:endParaRPr lang="en-US" sz="950" dirty="0"/>
          </a:p>
        </p:txBody>
      </p:sp>
      <p:sp>
        <p:nvSpPr>
          <p:cNvPr id="10" name="Shape 8"/>
          <p:cNvSpPr/>
          <p:nvPr/>
        </p:nvSpPr>
        <p:spPr>
          <a:xfrm>
            <a:off x="4663440" y="1325880"/>
            <a:ext cx="4023360" cy="1554480"/>
          </a:xfrm>
          <a:prstGeom prst="roundRect">
            <a:avLst>
              <a:gd name="adj" fmla="val 4706"/>
            </a:avLst>
          </a:prstGeom>
          <a:solidFill>
            <a:srgbClr val="0B1F3A"/>
          </a:solidFill>
          <a:ln w="12700">
            <a:solidFill>
              <a:srgbClr val="0B1F3A"/>
            </a:solidFill>
            <a:prstDash val="solid"/>
          </a:ln>
        </p:spPr>
        <p:txBody>
          <a:bodyPr/>
          <a:lstStyle/>
          <a:p>
            <a:endParaRPr lang="en-US"/>
          </a:p>
        </p:txBody>
      </p:sp>
      <p:sp>
        <p:nvSpPr>
          <p:cNvPr id="11" name="Text 9"/>
          <p:cNvSpPr txBox="1"/>
          <p:nvPr/>
        </p:nvSpPr>
        <p:spPr>
          <a:xfrm>
            <a:off x="4846320" y="1444752"/>
            <a:ext cx="2560320" cy="228600"/>
          </a:xfrm>
          <a:prstGeom prst="rect">
            <a:avLst/>
          </a:prstGeom>
          <a:noFill/>
          <a:ln/>
        </p:spPr>
        <p:txBody>
          <a:bodyPr wrap="square" lIns="0" tIns="0" rIns="0" bIns="0" rtlCol="0" anchor="t"/>
          <a:lstStyle/>
          <a:p>
            <a:pPr marL="0" indent="0">
              <a:buNone/>
            </a:pPr>
            <a:r>
              <a:rPr lang="en-US" sz="1150" b="1" dirty="0">
                <a:solidFill>
                  <a:srgbClr val="CADCFC"/>
                </a:solidFill>
                <a:latin typeface="Calibri" pitchFamily="34" charset="0"/>
                <a:ea typeface="Calibri" pitchFamily="34" charset="-122"/>
                <a:cs typeface="Calibri" pitchFamily="34" charset="-120"/>
              </a:rPr>
              <a:t>Issue does not exist</a:t>
            </a:r>
            <a:endParaRPr lang="en-US" sz="1150" dirty="0"/>
          </a:p>
        </p:txBody>
      </p:sp>
      <p:sp>
        <p:nvSpPr>
          <p:cNvPr id="12" name="Text 10"/>
          <p:cNvSpPr txBox="1"/>
          <p:nvPr/>
        </p:nvSpPr>
        <p:spPr>
          <a:xfrm>
            <a:off x="7680960" y="1435608"/>
            <a:ext cx="822960" cy="237744"/>
          </a:xfrm>
          <a:prstGeom prst="roundRect">
            <a:avLst>
              <a:gd name="adj" fmla="val 19231"/>
            </a:avLst>
          </a:prstGeom>
          <a:solidFill>
            <a:srgbClr val="DC2626"/>
          </a:solidFill>
          <a:ln>
            <a:solidFill>
              <a:srgbClr val="DC2626"/>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REJECTED</a:t>
            </a:r>
            <a:endParaRPr lang="en-US" sz="900" dirty="0"/>
          </a:p>
        </p:txBody>
      </p:sp>
      <p:sp>
        <p:nvSpPr>
          <p:cNvPr id="13" name="Text 11"/>
          <p:cNvSpPr txBox="1"/>
          <p:nvPr/>
        </p:nvSpPr>
        <p:spPr>
          <a:xfrm>
            <a:off x="4846320" y="1783080"/>
            <a:ext cx="3657600" cy="1005840"/>
          </a:xfrm>
          <a:prstGeom prst="rect">
            <a:avLst/>
          </a:prstGeom>
          <a:noFill/>
          <a:ln/>
        </p:spPr>
        <p:txBody>
          <a:bodyPr wrap="square" lIns="0" tIns="0" rIns="0" bIns="0" rtlCol="0" anchor="t"/>
          <a:lstStyle/>
          <a:p>
            <a:pPr marL="0" indent="0">
              <a:buNone/>
            </a:pPr>
            <a:r>
              <a:rPr lang="en-US" sz="950" dirty="0">
                <a:solidFill>
                  <a:srgbClr val="FFFFFF"/>
                </a:solidFill>
                <a:latin typeface="Courier New" pitchFamily="34" charset="0"/>
                <a:ea typeface="Courier New" pitchFamily="34" charset="-122"/>
                <a:cs typeface="Courier New" pitchFamily="34" charset="-120"/>
              </a:rPr>
              <a:t>$ git commit -m "AIST-999999 Test commit"</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F87171"/>
                </a:solidFill>
                <a:latin typeface="Courier New" pitchFamily="34" charset="0"/>
                <a:ea typeface="Courier New" pitchFamily="34" charset="-122"/>
                <a:cs typeface="Courier New" pitchFamily="34" charset="-120"/>
              </a:rPr>
              <a:t>Commit rejected.</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AIST-999999 does not exist in Jira.</a:t>
            </a:r>
            <a:endParaRPr lang="en-US" sz="950" dirty="0"/>
          </a:p>
          <a:p>
            <a:pPr marL="0" indent="0">
              <a:buNone/>
            </a:pPr>
            <a:r>
              <a:rPr lang="en-US" sz="950" dirty="0">
                <a:solidFill>
                  <a:srgbClr val="94A3B8"/>
                </a:solidFill>
                <a:latin typeface="Courier New" pitchFamily="34" charset="0"/>
                <a:ea typeface="Courier New" pitchFamily="34" charset="-122"/>
                <a:cs typeface="Courier New" pitchFamily="34" charset="-120"/>
              </a:rPr>
              <a:t>Please use an existing Jira issue key.</a:t>
            </a:r>
            <a:endParaRPr lang="en-US" sz="950" dirty="0"/>
          </a:p>
        </p:txBody>
      </p:sp>
      <p:sp>
        <p:nvSpPr>
          <p:cNvPr id="14" name="Shape 12"/>
          <p:cNvSpPr/>
          <p:nvPr/>
        </p:nvSpPr>
        <p:spPr>
          <a:xfrm>
            <a:off x="457200" y="3017520"/>
            <a:ext cx="4023360" cy="1554480"/>
          </a:xfrm>
          <a:prstGeom prst="roundRect">
            <a:avLst>
              <a:gd name="adj" fmla="val 4706"/>
            </a:avLst>
          </a:prstGeom>
          <a:solidFill>
            <a:srgbClr val="0B1F3A"/>
          </a:solidFill>
          <a:ln w="12700">
            <a:solidFill>
              <a:srgbClr val="0B1F3A"/>
            </a:solidFill>
            <a:prstDash val="solid"/>
          </a:ln>
        </p:spPr>
        <p:txBody>
          <a:bodyPr/>
          <a:lstStyle/>
          <a:p>
            <a:endParaRPr lang="en-US"/>
          </a:p>
        </p:txBody>
      </p:sp>
      <p:sp>
        <p:nvSpPr>
          <p:cNvPr id="15" name="Text 13"/>
          <p:cNvSpPr txBox="1"/>
          <p:nvPr/>
        </p:nvSpPr>
        <p:spPr>
          <a:xfrm>
            <a:off x="640080" y="3136392"/>
            <a:ext cx="2560320" cy="228600"/>
          </a:xfrm>
          <a:prstGeom prst="rect">
            <a:avLst/>
          </a:prstGeom>
          <a:noFill/>
          <a:ln/>
        </p:spPr>
        <p:txBody>
          <a:bodyPr wrap="square" lIns="0" tIns="0" rIns="0" bIns="0" rtlCol="0" anchor="t"/>
          <a:lstStyle/>
          <a:p>
            <a:pPr marL="0" indent="0">
              <a:buNone/>
            </a:pPr>
            <a:r>
              <a:rPr lang="en-US" sz="1150" b="1" dirty="0">
                <a:solidFill>
                  <a:srgbClr val="CADCFC"/>
                </a:solidFill>
                <a:latin typeface="Calibri" pitchFamily="34" charset="0"/>
                <a:ea typeface="Calibri" pitchFamily="34" charset="-122"/>
                <a:cs typeface="Calibri" pitchFamily="34" charset="-120"/>
              </a:rPr>
              <a:t>Missing issue key</a:t>
            </a:r>
            <a:endParaRPr lang="en-US" sz="1150" dirty="0"/>
          </a:p>
        </p:txBody>
      </p:sp>
      <p:sp>
        <p:nvSpPr>
          <p:cNvPr id="16" name="Text 14"/>
          <p:cNvSpPr txBox="1"/>
          <p:nvPr/>
        </p:nvSpPr>
        <p:spPr>
          <a:xfrm>
            <a:off x="3474720" y="3127248"/>
            <a:ext cx="822960" cy="237744"/>
          </a:xfrm>
          <a:prstGeom prst="roundRect">
            <a:avLst>
              <a:gd name="adj" fmla="val 19231"/>
            </a:avLst>
          </a:prstGeom>
          <a:solidFill>
            <a:srgbClr val="DC2626"/>
          </a:solidFill>
          <a:ln>
            <a:solidFill>
              <a:srgbClr val="DC2626"/>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REJECTED</a:t>
            </a:r>
            <a:endParaRPr lang="en-US" sz="900" dirty="0"/>
          </a:p>
        </p:txBody>
      </p:sp>
      <p:sp>
        <p:nvSpPr>
          <p:cNvPr id="17" name="Text 15"/>
          <p:cNvSpPr txBox="1"/>
          <p:nvPr/>
        </p:nvSpPr>
        <p:spPr>
          <a:xfrm>
            <a:off x="640080" y="3474720"/>
            <a:ext cx="3657600" cy="1005840"/>
          </a:xfrm>
          <a:prstGeom prst="rect">
            <a:avLst/>
          </a:prstGeom>
          <a:noFill/>
          <a:ln/>
        </p:spPr>
        <p:txBody>
          <a:bodyPr wrap="square" lIns="0" tIns="0" rIns="0" bIns="0" rtlCol="0" anchor="t"/>
          <a:lstStyle/>
          <a:p>
            <a:pPr marL="0" indent="0">
              <a:buNone/>
            </a:pPr>
            <a:r>
              <a:rPr lang="en-US" sz="950" dirty="0">
                <a:solidFill>
                  <a:srgbClr val="FFFFFF"/>
                </a:solidFill>
                <a:latin typeface="Courier New" pitchFamily="34" charset="0"/>
                <a:ea typeface="Courier New" pitchFamily="34" charset="-122"/>
                <a:cs typeface="Courier New" pitchFamily="34" charset="-120"/>
              </a:rPr>
              <a:t>$ git commit -m "Update validation logic"</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marL="0" indent="0">
              <a:buNone/>
            </a:pPr>
            <a:r>
              <a:rPr lang="en-US" sz="950" b="1" dirty="0">
                <a:solidFill>
                  <a:srgbClr val="F87171"/>
                </a:solidFill>
                <a:latin typeface="Courier New" pitchFamily="34" charset="0"/>
                <a:ea typeface="Courier New" pitchFamily="34" charset="-122"/>
                <a:cs typeface="Courier New" pitchFamily="34" charset="-120"/>
              </a:rPr>
              <a:t>Commit rejected.</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Commit message must contain a Jira issue key in the format AIST-1234.</a:t>
            </a:r>
            <a:endParaRPr lang="en-US" sz="950" dirty="0"/>
          </a:p>
        </p:txBody>
      </p:sp>
      <p:sp>
        <p:nvSpPr>
          <p:cNvPr id="18" name="Shape 16"/>
          <p:cNvSpPr/>
          <p:nvPr/>
        </p:nvSpPr>
        <p:spPr>
          <a:xfrm>
            <a:off x="4663440" y="3017520"/>
            <a:ext cx="4023360" cy="1554480"/>
          </a:xfrm>
          <a:prstGeom prst="roundRect">
            <a:avLst>
              <a:gd name="adj" fmla="val 4706"/>
            </a:avLst>
          </a:prstGeom>
          <a:solidFill>
            <a:srgbClr val="0B1F3A"/>
          </a:solidFill>
          <a:ln w="12700">
            <a:solidFill>
              <a:srgbClr val="0B1F3A"/>
            </a:solidFill>
            <a:prstDash val="solid"/>
          </a:ln>
        </p:spPr>
        <p:txBody>
          <a:bodyPr/>
          <a:lstStyle/>
          <a:p>
            <a:endParaRPr lang="en-US"/>
          </a:p>
        </p:txBody>
      </p:sp>
      <p:sp>
        <p:nvSpPr>
          <p:cNvPr id="19" name="Text 17"/>
          <p:cNvSpPr txBox="1"/>
          <p:nvPr/>
        </p:nvSpPr>
        <p:spPr>
          <a:xfrm>
            <a:off x="4846320" y="3136392"/>
            <a:ext cx="2560320" cy="228600"/>
          </a:xfrm>
          <a:prstGeom prst="rect">
            <a:avLst/>
          </a:prstGeom>
          <a:noFill/>
          <a:ln/>
        </p:spPr>
        <p:txBody>
          <a:bodyPr wrap="square" lIns="0" tIns="0" rIns="0" bIns="0" rtlCol="0" anchor="t"/>
          <a:lstStyle/>
          <a:p>
            <a:pPr marL="0" indent="0">
              <a:buNone/>
            </a:pPr>
            <a:r>
              <a:rPr lang="en-US" sz="1150" b="1" dirty="0">
                <a:solidFill>
                  <a:srgbClr val="CADCFC"/>
                </a:solidFill>
                <a:latin typeface="Calibri" pitchFamily="34" charset="0"/>
                <a:ea typeface="Calibri" pitchFamily="34" charset="-122"/>
                <a:cs typeface="Calibri" pitchFamily="34" charset="-120"/>
              </a:rPr>
              <a:t>Authentication failure</a:t>
            </a:r>
            <a:endParaRPr lang="en-US" sz="1150" dirty="0"/>
          </a:p>
        </p:txBody>
      </p:sp>
      <p:sp>
        <p:nvSpPr>
          <p:cNvPr id="20" name="Text 18"/>
          <p:cNvSpPr txBox="1"/>
          <p:nvPr/>
        </p:nvSpPr>
        <p:spPr>
          <a:xfrm>
            <a:off x="7680960" y="3127248"/>
            <a:ext cx="822960" cy="237744"/>
          </a:xfrm>
          <a:prstGeom prst="roundRect">
            <a:avLst>
              <a:gd name="adj" fmla="val 19231"/>
            </a:avLst>
          </a:prstGeom>
          <a:solidFill>
            <a:srgbClr val="DC2626"/>
          </a:solidFill>
          <a:ln>
            <a:solidFill>
              <a:srgbClr val="DC2626"/>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REJECTED</a:t>
            </a:r>
            <a:endParaRPr lang="en-US" sz="900" dirty="0"/>
          </a:p>
        </p:txBody>
      </p:sp>
      <p:sp>
        <p:nvSpPr>
          <p:cNvPr id="21" name="Text 19"/>
          <p:cNvSpPr txBox="1"/>
          <p:nvPr/>
        </p:nvSpPr>
        <p:spPr>
          <a:xfrm>
            <a:off x="4846320" y="3474720"/>
            <a:ext cx="3657600" cy="1005840"/>
          </a:xfrm>
          <a:prstGeom prst="rect">
            <a:avLst/>
          </a:prstGeom>
          <a:noFill/>
          <a:ln/>
        </p:spPr>
        <p:txBody>
          <a:bodyPr wrap="square" lIns="0" tIns="0" rIns="0" bIns="0" rtlCol="0" anchor="t"/>
          <a:lstStyle/>
          <a:p>
            <a:pPr marL="0" indent="0">
              <a:buNone/>
            </a:pPr>
            <a:r>
              <a:rPr lang="en-US" sz="950" dirty="0">
                <a:solidFill>
                  <a:srgbClr val="FFFFFF"/>
                </a:solidFill>
                <a:latin typeface="Courier New" pitchFamily="34" charset="0"/>
                <a:ea typeface="Courier New" pitchFamily="34" charset="-122"/>
                <a:cs typeface="Courier New" pitchFamily="34" charset="-120"/>
              </a:rPr>
              <a:t>$ git commit -m "AIST-6 Implement validation"</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Unable to validate AIST-6 with Jira.</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Jira authentication or permission failed.</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Your Jira API token may be expired or revoked.</a:t>
            </a:r>
            <a:endParaRPr lang="en-US" sz="950" dirty="0"/>
          </a:p>
          <a:p>
            <a:pPr marL="0" indent="0">
              <a:buNone/>
            </a:pPr>
            <a:r>
              <a:rPr lang="en-US" sz="950" b="1" dirty="0">
                <a:solidFill>
                  <a:srgbClr val="5EEAD4"/>
                </a:solidFill>
                <a:latin typeface="Courier New" pitchFamily="34" charset="0"/>
                <a:ea typeface="Courier New" pitchFamily="34" charset="-122"/>
                <a:cs typeface="Courier New" pitchFamily="34" charset="-120"/>
              </a:rPr>
              <a:t>Run: aistctl renew</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DEPLOYMENT</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Deployment &amp; MSI</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1143000" y="1737360"/>
            <a:ext cx="6858000" cy="0"/>
          </a:xfrm>
          <a:prstGeom prst="line">
            <a:avLst/>
          </a:prstGeom>
          <a:noFill/>
          <a:ln w="25400">
            <a:solidFill>
              <a:srgbClr val="D5DDE8"/>
            </a:solidFill>
            <a:prstDash val="solid"/>
          </a:ln>
        </p:spPr>
        <p:txBody>
          <a:bodyPr/>
          <a:lstStyle/>
          <a:p>
            <a:endParaRPr lang="en-US"/>
          </a:p>
        </p:txBody>
      </p:sp>
      <p:sp>
        <p:nvSpPr>
          <p:cNvPr id="7" name="Shape 5"/>
          <p:cNvSpPr/>
          <p:nvPr/>
        </p:nvSpPr>
        <p:spPr>
          <a:xfrm>
            <a:off x="850392" y="1444752"/>
            <a:ext cx="585216" cy="585216"/>
          </a:xfrm>
          <a:prstGeom prst="ellipse">
            <a:avLst/>
          </a:prstGeom>
          <a:solidFill>
            <a:srgbClr val="0E9F9A"/>
          </a:solidFill>
          <a:ln w="12700">
            <a:solidFill>
              <a:srgbClr val="0E9F9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96696" y="1591056"/>
            <a:ext cx="292608" cy="292608"/>
          </a:xfrm>
          <a:prstGeom prst="rect">
            <a:avLst/>
          </a:prstGeom>
        </p:spPr>
      </p:pic>
      <p:sp>
        <p:nvSpPr>
          <p:cNvPr id="9" name="Text 6"/>
          <p:cNvSpPr txBox="1"/>
          <p:nvPr/>
        </p:nvSpPr>
        <p:spPr>
          <a:xfrm>
            <a:off x="521208" y="2148840"/>
            <a:ext cx="1243584" cy="502920"/>
          </a:xfrm>
          <a:prstGeom prst="rect">
            <a:avLst/>
          </a:prstGeom>
          <a:noFill/>
          <a:ln/>
        </p:spPr>
        <p:txBody>
          <a:bodyPr wrap="square" lIns="0" tIns="0" rIns="0" bIns="0" rtlCol="0" anchor="t"/>
          <a:lstStyle/>
          <a:p>
            <a:pPr marL="0" indent="0" algn="ctr">
              <a:buNone/>
            </a:pPr>
            <a:r>
              <a:rPr lang="en-US" sz="1200" b="1" dirty="0">
                <a:solidFill>
                  <a:srgbClr val="0B1F3A"/>
                </a:solidFill>
                <a:latin typeface="Calibri" pitchFamily="34" charset="0"/>
                <a:ea typeface="Calibri" pitchFamily="34" charset="-122"/>
                <a:cs typeface="Calibri" pitchFamily="34" charset="-120"/>
              </a:rPr>
              <a:t>Download MSI</a:t>
            </a:r>
            <a:endParaRPr lang="en-US" sz="1200" dirty="0"/>
          </a:p>
        </p:txBody>
      </p:sp>
      <p:sp>
        <p:nvSpPr>
          <p:cNvPr id="10" name="Shape 7"/>
          <p:cNvSpPr/>
          <p:nvPr/>
        </p:nvSpPr>
        <p:spPr>
          <a:xfrm>
            <a:off x="2221992" y="1444752"/>
            <a:ext cx="585216" cy="585216"/>
          </a:xfrm>
          <a:prstGeom prst="ellipse">
            <a:avLst/>
          </a:prstGeom>
          <a:solidFill>
            <a:srgbClr val="0E9F9A"/>
          </a:solidFill>
          <a:ln w="12700">
            <a:solidFill>
              <a:srgbClr val="0E9F9A"/>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368296" y="1591056"/>
            <a:ext cx="292608" cy="292608"/>
          </a:xfrm>
          <a:prstGeom prst="rect">
            <a:avLst/>
          </a:prstGeom>
        </p:spPr>
      </p:pic>
      <p:sp>
        <p:nvSpPr>
          <p:cNvPr id="12" name="Text 8"/>
          <p:cNvSpPr txBox="1"/>
          <p:nvPr/>
        </p:nvSpPr>
        <p:spPr>
          <a:xfrm>
            <a:off x="1892808" y="2148840"/>
            <a:ext cx="1243584" cy="502920"/>
          </a:xfrm>
          <a:prstGeom prst="rect">
            <a:avLst/>
          </a:prstGeom>
          <a:noFill/>
          <a:ln/>
        </p:spPr>
        <p:txBody>
          <a:bodyPr wrap="square" lIns="0" tIns="0" rIns="0" bIns="0" rtlCol="0" anchor="t"/>
          <a:lstStyle/>
          <a:p>
            <a:pPr marL="0" indent="0" algn="ctr">
              <a:buNone/>
            </a:pPr>
            <a:r>
              <a:rPr lang="en-US" sz="1200" b="1" dirty="0">
                <a:solidFill>
                  <a:srgbClr val="0B1F3A"/>
                </a:solidFill>
                <a:latin typeface="Calibri" pitchFamily="34" charset="0"/>
                <a:ea typeface="Calibri" pitchFamily="34" charset="-122"/>
                <a:cs typeface="Calibri" pitchFamily="34" charset="-120"/>
              </a:rPr>
              <a:t>Install</a:t>
            </a:r>
            <a:endParaRPr lang="en-US" sz="1200" dirty="0"/>
          </a:p>
        </p:txBody>
      </p:sp>
      <p:sp>
        <p:nvSpPr>
          <p:cNvPr id="13" name="Shape 9"/>
          <p:cNvSpPr/>
          <p:nvPr/>
        </p:nvSpPr>
        <p:spPr>
          <a:xfrm>
            <a:off x="3593592" y="1444752"/>
            <a:ext cx="585216" cy="585216"/>
          </a:xfrm>
          <a:prstGeom prst="ellipse">
            <a:avLst/>
          </a:prstGeom>
          <a:solidFill>
            <a:srgbClr val="0E9F9A"/>
          </a:solidFill>
          <a:ln w="12700">
            <a:solidFill>
              <a:srgbClr val="0E9F9A"/>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739896" y="1591056"/>
            <a:ext cx="292608" cy="292608"/>
          </a:xfrm>
          <a:prstGeom prst="rect">
            <a:avLst/>
          </a:prstGeom>
        </p:spPr>
      </p:pic>
      <p:sp>
        <p:nvSpPr>
          <p:cNvPr id="15" name="Text 10"/>
          <p:cNvSpPr txBox="1"/>
          <p:nvPr/>
        </p:nvSpPr>
        <p:spPr>
          <a:xfrm>
            <a:off x="3264408" y="2148840"/>
            <a:ext cx="1243584" cy="502920"/>
          </a:xfrm>
          <a:prstGeom prst="rect">
            <a:avLst/>
          </a:prstGeom>
          <a:noFill/>
          <a:ln/>
        </p:spPr>
        <p:txBody>
          <a:bodyPr wrap="square" lIns="0" tIns="0" rIns="0" bIns="0" rtlCol="0" anchor="t"/>
          <a:lstStyle/>
          <a:p>
            <a:pPr marL="0" indent="0" algn="ctr">
              <a:buNone/>
            </a:pPr>
            <a:r>
              <a:rPr lang="en-US" sz="1200" b="1" dirty="0">
                <a:solidFill>
                  <a:srgbClr val="0B1F3A"/>
                </a:solidFill>
                <a:latin typeface="Calibri" pitchFamily="34" charset="0"/>
                <a:ea typeface="Calibri" pitchFamily="34" charset="-122"/>
                <a:cs typeface="Calibri" pitchFamily="34" charset="-120"/>
              </a:rPr>
              <a:t>Run</a:t>
            </a:r>
            <a:endParaRPr lang="en-US" sz="1200" dirty="0"/>
          </a:p>
          <a:p>
            <a:pPr marL="0" indent="0" algn="ctr">
              <a:buNone/>
            </a:pPr>
            <a:r>
              <a:rPr lang="en-US" sz="1200" b="1" dirty="0">
                <a:solidFill>
                  <a:srgbClr val="0B1F3A"/>
                </a:solidFill>
                <a:latin typeface="Calibri" pitchFamily="34" charset="0"/>
                <a:ea typeface="Calibri" pitchFamily="34" charset="-122"/>
                <a:cs typeface="Calibri" pitchFamily="34" charset="-120"/>
              </a:rPr>
              <a:t>aistctl setup</a:t>
            </a:r>
            <a:endParaRPr lang="en-US" sz="1200" dirty="0"/>
          </a:p>
        </p:txBody>
      </p:sp>
      <p:sp>
        <p:nvSpPr>
          <p:cNvPr id="16" name="Shape 11"/>
          <p:cNvSpPr/>
          <p:nvPr/>
        </p:nvSpPr>
        <p:spPr>
          <a:xfrm>
            <a:off x="4965192" y="1444752"/>
            <a:ext cx="585216" cy="585216"/>
          </a:xfrm>
          <a:prstGeom prst="ellipse">
            <a:avLst/>
          </a:prstGeom>
          <a:solidFill>
            <a:srgbClr val="0E9F9A"/>
          </a:solidFill>
          <a:ln w="12700">
            <a:solidFill>
              <a:srgbClr val="0E9F9A"/>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5111496" y="1591056"/>
            <a:ext cx="292608" cy="292608"/>
          </a:xfrm>
          <a:prstGeom prst="rect">
            <a:avLst/>
          </a:prstGeom>
        </p:spPr>
      </p:pic>
      <p:sp>
        <p:nvSpPr>
          <p:cNvPr id="18" name="Text 12"/>
          <p:cNvSpPr txBox="1"/>
          <p:nvPr/>
        </p:nvSpPr>
        <p:spPr>
          <a:xfrm>
            <a:off x="4636008" y="2148840"/>
            <a:ext cx="1243584" cy="502920"/>
          </a:xfrm>
          <a:prstGeom prst="rect">
            <a:avLst/>
          </a:prstGeom>
          <a:noFill/>
          <a:ln/>
        </p:spPr>
        <p:txBody>
          <a:bodyPr wrap="square" lIns="0" tIns="0" rIns="0" bIns="0" rtlCol="0" anchor="t"/>
          <a:lstStyle/>
          <a:p>
            <a:pPr marL="0" indent="0" algn="ctr">
              <a:buNone/>
            </a:pPr>
            <a:r>
              <a:rPr lang="en-US" sz="1200" b="1" dirty="0">
                <a:solidFill>
                  <a:srgbClr val="0B1F3A"/>
                </a:solidFill>
                <a:latin typeface="Calibri" pitchFamily="34" charset="0"/>
                <a:ea typeface="Calibri" pitchFamily="34" charset="-122"/>
                <a:cs typeface="Calibri" pitchFamily="34" charset="-120"/>
              </a:rPr>
              <a:t>Configure Jira</a:t>
            </a:r>
            <a:endParaRPr lang="en-US" sz="1200" dirty="0"/>
          </a:p>
        </p:txBody>
      </p:sp>
      <p:sp>
        <p:nvSpPr>
          <p:cNvPr id="19" name="Shape 13"/>
          <p:cNvSpPr/>
          <p:nvPr/>
        </p:nvSpPr>
        <p:spPr>
          <a:xfrm>
            <a:off x="6336792" y="1444752"/>
            <a:ext cx="585216" cy="585216"/>
          </a:xfrm>
          <a:prstGeom prst="ellipse">
            <a:avLst/>
          </a:prstGeom>
          <a:solidFill>
            <a:srgbClr val="0E9F9A"/>
          </a:solidFill>
          <a:ln w="12700">
            <a:solidFill>
              <a:srgbClr val="0E9F9A"/>
            </a:solidFill>
            <a:prstDash val="solid"/>
          </a:ln>
        </p:spPr>
        <p:txBody>
          <a:bodyPr/>
          <a:lstStyle/>
          <a:p>
            <a:endParaRPr lang="en-US"/>
          </a:p>
        </p:txBody>
      </p:sp>
      <p:pic>
        <p:nvPicPr>
          <p:cNvPr id="20" name="Image 4" descr="preencoded.png"/>
          <p:cNvPicPr>
            <a:picLocks noChangeAspect="1"/>
          </p:cNvPicPr>
          <p:nvPr/>
        </p:nvPicPr>
        <p:blipFill>
          <a:blip r:embed="rId7"/>
          <a:stretch>
            <a:fillRect/>
          </a:stretch>
        </p:blipFill>
        <p:spPr>
          <a:xfrm>
            <a:off x="6483096" y="1591056"/>
            <a:ext cx="292608" cy="292608"/>
          </a:xfrm>
          <a:prstGeom prst="rect">
            <a:avLst/>
          </a:prstGeom>
        </p:spPr>
      </p:pic>
      <p:sp>
        <p:nvSpPr>
          <p:cNvPr id="21" name="Text 14"/>
          <p:cNvSpPr txBox="1"/>
          <p:nvPr/>
        </p:nvSpPr>
        <p:spPr>
          <a:xfrm>
            <a:off x="6007608" y="2148840"/>
            <a:ext cx="1243584" cy="502920"/>
          </a:xfrm>
          <a:prstGeom prst="rect">
            <a:avLst/>
          </a:prstGeom>
          <a:noFill/>
          <a:ln/>
        </p:spPr>
        <p:txBody>
          <a:bodyPr wrap="square" lIns="0" tIns="0" rIns="0" bIns="0" rtlCol="0" anchor="t"/>
          <a:lstStyle/>
          <a:p>
            <a:pPr marL="0" indent="0" algn="ctr">
              <a:buNone/>
            </a:pPr>
            <a:r>
              <a:rPr lang="en-US" sz="1200" b="1" dirty="0">
                <a:solidFill>
                  <a:srgbClr val="0B1F3A"/>
                </a:solidFill>
                <a:latin typeface="Calibri" pitchFamily="34" charset="0"/>
                <a:ea typeface="Calibri" pitchFamily="34" charset="-122"/>
                <a:cs typeface="Calibri" pitchFamily="34" charset="-120"/>
              </a:rPr>
              <a:t>Install global Git hook</a:t>
            </a:r>
            <a:endParaRPr lang="en-US" sz="1200" dirty="0"/>
          </a:p>
        </p:txBody>
      </p:sp>
      <p:sp>
        <p:nvSpPr>
          <p:cNvPr id="22" name="Shape 15"/>
          <p:cNvSpPr/>
          <p:nvPr/>
        </p:nvSpPr>
        <p:spPr>
          <a:xfrm>
            <a:off x="7708392" y="1444752"/>
            <a:ext cx="585216" cy="585216"/>
          </a:xfrm>
          <a:prstGeom prst="ellipse">
            <a:avLst/>
          </a:prstGeom>
          <a:solidFill>
            <a:srgbClr val="0B1F3A"/>
          </a:solidFill>
          <a:ln w="12700">
            <a:solidFill>
              <a:srgbClr val="0B1F3A"/>
            </a:solidFill>
            <a:prstDash val="solid"/>
          </a:ln>
        </p:spPr>
        <p:txBody>
          <a:bodyPr/>
          <a:lstStyle/>
          <a:p>
            <a:endParaRPr lang="en-US"/>
          </a:p>
        </p:txBody>
      </p:sp>
      <p:pic>
        <p:nvPicPr>
          <p:cNvPr id="23" name="Image 5" descr="preencoded.png"/>
          <p:cNvPicPr>
            <a:picLocks noChangeAspect="1"/>
          </p:cNvPicPr>
          <p:nvPr/>
        </p:nvPicPr>
        <p:blipFill>
          <a:blip r:embed="rId8"/>
          <a:stretch>
            <a:fillRect/>
          </a:stretch>
        </p:blipFill>
        <p:spPr>
          <a:xfrm>
            <a:off x="7854696" y="1591056"/>
            <a:ext cx="292608" cy="292608"/>
          </a:xfrm>
          <a:prstGeom prst="rect">
            <a:avLst/>
          </a:prstGeom>
        </p:spPr>
      </p:pic>
      <p:sp>
        <p:nvSpPr>
          <p:cNvPr id="24" name="Text 16"/>
          <p:cNvSpPr txBox="1"/>
          <p:nvPr/>
        </p:nvSpPr>
        <p:spPr>
          <a:xfrm>
            <a:off x="7379208" y="2148840"/>
            <a:ext cx="1243584" cy="502920"/>
          </a:xfrm>
          <a:prstGeom prst="rect">
            <a:avLst/>
          </a:prstGeom>
          <a:noFill/>
          <a:ln/>
        </p:spPr>
        <p:txBody>
          <a:bodyPr wrap="square" lIns="0" tIns="0" rIns="0" bIns="0" rtlCol="0" anchor="t"/>
          <a:lstStyle/>
          <a:p>
            <a:pPr marL="0" indent="0" algn="ctr">
              <a:buNone/>
            </a:pPr>
            <a:r>
              <a:rPr lang="en-US" sz="1200" b="1" dirty="0">
                <a:solidFill>
                  <a:srgbClr val="0B1F3A"/>
                </a:solidFill>
                <a:latin typeface="Calibri" pitchFamily="34" charset="0"/>
                <a:ea typeface="Calibri" pitchFamily="34" charset="-122"/>
                <a:cs typeface="Calibri" pitchFamily="34" charset="-120"/>
              </a:rPr>
              <a:t>Start committing</a:t>
            </a:r>
            <a:endParaRPr lang="en-US" sz="1200" dirty="0"/>
          </a:p>
        </p:txBody>
      </p:sp>
      <p:sp>
        <p:nvSpPr>
          <p:cNvPr id="25" name="Shape 17"/>
          <p:cNvSpPr/>
          <p:nvPr/>
        </p:nvSpPr>
        <p:spPr>
          <a:xfrm>
            <a:off x="457200" y="3017520"/>
            <a:ext cx="2651760" cy="1508760"/>
          </a:xfrm>
          <a:prstGeom prst="roundRect">
            <a:avLst>
              <a:gd name="adj" fmla="val 4848"/>
            </a:avLst>
          </a:prstGeom>
          <a:solidFill>
            <a:srgbClr val="F4F7FB"/>
          </a:solidFill>
          <a:ln w="9525">
            <a:solidFill>
              <a:srgbClr val="D5DDE8"/>
            </a:solidFill>
            <a:prstDash val="solid"/>
          </a:ln>
        </p:spPr>
        <p:txBody>
          <a:bodyPr/>
          <a:lstStyle/>
          <a:p>
            <a:endParaRPr lang="en-US"/>
          </a:p>
        </p:txBody>
      </p:sp>
      <p:sp>
        <p:nvSpPr>
          <p:cNvPr id="26" name="Shape 18"/>
          <p:cNvSpPr/>
          <p:nvPr/>
        </p:nvSpPr>
        <p:spPr>
          <a:xfrm>
            <a:off x="640080" y="3182112"/>
            <a:ext cx="384048" cy="384048"/>
          </a:xfrm>
          <a:prstGeom prst="ellipse">
            <a:avLst/>
          </a:prstGeom>
          <a:solidFill>
            <a:srgbClr val="0E9F9A"/>
          </a:solidFill>
          <a:ln w="12700">
            <a:solidFill>
              <a:srgbClr val="0E9F9A"/>
            </a:solidFill>
            <a:prstDash val="solid"/>
          </a:ln>
        </p:spPr>
        <p:txBody>
          <a:bodyPr/>
          <a:lstStyle/>
          <a:p>
            <a:endParaRPr lang="en-US"/>
          </a:p>
        </p:txBody>
      </p:sp>
      <p:pic>
        <p:nvPicPr>
          <p:cNvPr id="27" name="Image 6" descr="preencoded.png"/>
          <p:cNvPicPr>
            <a:picLocks noChangeAspect="1"/>
          </p:cNvPicPr>
          <p:nvPr/>
        </p:nvPicPr>
        <p:blipFill>
          <a:blip r:embed="rId9"/>
          <a:stretch>
            <a:fillRect/>
          </a:stretch>
        </p:blipFill>
        <p:spPr>
          <a:xfrm>
            <a:off x="736092" y="3278124"/>
            <a:ext cx="192024" cy="192024"/>
          </a:xfrm>
          <a:prstGeom prst="rect">
            <a:avLst/>
          </a:prstGeom>
        </p:spPr>
      </p:pic>
      <p:sp>
        <p:nvSpPr>
          <p:cNvPr id="28" name="Text 19"/>
          <p:cNvSpPr txBox="1"/>
          <p:nvPr/>
        </p:nvSpPr>
        <p:spPr>
          <a:xfrm>
            <a:off x="1143000" y="3182112"/>
            <a:ext cx="1874520" cy="384048"/>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Standalone install</a:t>
            </a:r>
            <a:endParaRPr lang="en-US" sz="1350" dirty="0"/>
          </a:p>
        </p:txBody>
      </p:sp>
      <p:sp>
        <p:nvSpPr>
          <p:cNvPr id="29" name="Text 20"/>
          <p:cNvSpPr txBox="1"/>
          <p:nvPr/>
        </p:nvSpPr>
        <p:spPr>
          <a:xfrm>
            <a:off x="640080" y="3703320"/>
            <a:ext cx="2331720" cy="77724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Installs the aistctl executable under Program Files. No manual Python installation required.</a:t>
            </a:r>
            <a:endParaRPr lang="en-US" sz="1150" dirty="0"/>
          </a:p>
        </p:txBody>
      </p:sp>
      <p:sp>
        <p:nvSpPr>
          <p:cNvPr id="30" name="Shape 21"/>
          <p:cNvSpPr/>
          <p:nvPr/>
        </p:nvSpPr>
        <p:spPr>
          <a:xfrm>
            <a:off x="3246120" y="3017520"/>
            <a:ext cx="2651760" cy="1508760"/>
          </a:xfrm>
          <a:prstGeom prst="roundRect">
            <a:avLst>
              <a:gd name="adj" fmla="val 4848"/>
            </a:avLst>
          </a:prstGeom>
          <a:solidFill>
            <a:srgbClr val="F4F7FB"/>
          </a:solidFill>
          <a:ln w="9525">
            <a:solidFill>
              <a:srgbClr val="D5DDE8"/>
            </a:solidFill>
            <a:prstDash val="solid"/>
          </a:ln>
        </p:spPr>
        <p:txBody>
          <a:bodyPr/>
          <a:lstStyle/>
          <a:p>
            <a:endParaRPr lang="en-US"/>
          </a:p>
        </p:txBody>
      </p:sp>
      <p:sp>
        <p:nvSpPr>
          <p:cNvPr id="31" name="Shape 22"/>
          <p:cNvSpPr/>
          <p:nvPr/>
        </p:nvSpPr>
        <p:spPr>
          <a:xfrm>
            <a:off x="3429000" y="3182112"/>
            <a:ext cx="384048" cy="384048"/>
          </a:xfrm>
          <a:prstGeom prst="ellipse">
            <a:avLst/>
          </a:prstGeom>
          <a:solidFill>
            <a:srgbClr val="0E9F9A"/>
          </a:solidFill>
          <a:ln w="12700">
            <a:solidFill>
              <a:srgbClr val="0E9F9A"/>
            </a:solidFill>
            <a:prstDash val="solid"/>
          </a:ln>
        </p:spPr>
        <p:txBody>
          <a:bodyPr/>
          <a:lstStyle/>
          <a:p>
            <a:endParaRPr lang="en-US"/>
          </a:p>
        </p:txBody>
      </p:sp>
      <p:pic>
        <p:nvPicPr>
          <p:cNvPr id="32" name="Image 7" descr="preencoded.png"/>
          <p:cNvPicPr>
            <a:picLocks noChangeAspect="1"/>
          </p:cNvPicPr>
          <p:nvPr/>
        </p:nvPicPr>
        <p:blipFill>
          <a:blip r:embed="rId5"/>
          <a:stretch>
            <a:fillRect/>
          </a:stretch>
        </p:blipFill>
        <p:spPr>
          <a:xfrm>
            <a:off x="3525012" y="3278124"/>
            <a:ext cx="192024" cy="192024"/>
          </a:xfrm>
          <a:prstGeom prst="rect">
            <a:avLst/>
          </a:prstGeom>
        </p:spPr>
      </p:pic>
      <p:sp>
        <p:nvSpPr>
          <p:cNvPr id="33" name="Text 23"/>
          <p:cNvSpPr txBox="1"/>
          <p:nvPr/>
        </p:nvSpPr>
        <p:spPr>
          <a:xfrm>
            <a:off x="3931920" y="3182112"/>
            <a:ext cx="1874520" cy="384048"/>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Runs from any shell</a:t>
            </a:r>
            <a:endParaRPr lang="en-US" sz="1350" dirty="0"/>
          </a:p>
        </p:txBody>
      </p:sp>
      <p:sp>
        <p:nvSpPr>
          <p:cNvPr id="34" name="Text 24"/>
          <p:cNvSpPr txBox="1"/>
          <p:nvPr/>
        </p:nvSpPr>
        <p:spPr>
          <a:xfrm>
            <a:off x="3429000" y="3703320"/>
            <a:ext cx="2331720" cy="77724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The install directory is added to the system PATH for PowerShell and Command Prompt.</a:t>
            </a:r>
            <a:endParaRPr lang="en-US" sz="1150" dirty="0"/>
          </a:p>
        </p:txBody>
      </p:sp>
      <p:sp>
        <p:nvSpPr>
          <p:cNvPr id="35" name="Shape 25"/>
          <p:cNvSpPr/>
          <p:nvPr/>
        </p:nvSpPr>
        <p:spPr>
          <a:xfrm>
            <a:off x="6035040" y="3017520"/>
            <a:ext cx="2651760" cy="1508760"/>
          </a:xfrm>
          <a:prstGeom prst="roundRect">
            <a:avLst>
              <a:gd name="adj" fmla="val 4848"/>
            </a:avLst>
          </a:prstGeom>
          <a:solidFill>
            <a:srgbClr val="F4F7FB"/>
          </a:solidFill>
          <a:ln w="9525">
            <a:solidFill>
              <a:srgbClr val="D5DDE8"/>
            </a:solidFill>
            <a:prstDash val="solid"/>
          </a:ln>
        </p:spPr>
        <p:txBody>
          <a:bodyPr/>
          <a:lstStyle/>
          <a:p>
            <a:endParaRPr lang="en-US"/>
          </a:p>
        </p:txBody>
      </p:sp>
      <p:sp>
        <p:nvSpPr>
          <p:cNvPr id="36" name="Shape 26"/>
          <p:cNvSpPr/>
          <p:nvPr/>
        </p:nvSpPr>
        <p:spPr>
          <a:xfrm>
            <a:off x="6217920" y="3182112"/>
            <a:ext cx="384048" cy="384048"/>
          </a:xfrm>
          <a:prstGeom prst="ellipse">
            <a:avLst/>
          </a:prstGeom>
          <a:solidFill>
            <a:srgbClr val="0E9F9A"/>
          </a:solidFill>
          <a:ln w="12700">
            <a:solidFill>
              <a:srgbClr val="0E9F9A"/>
            </a:solidFill>
            <a:prstDash val="solid"/>
          </a:ln>
        </p:spPr>
        <p:txBody>
          <a:bodyPr/>
          <a:lstStyle/>
          <a:p>
            <a:endParaRPr lang="en-US"/>
          </a:p>
        </p:txBody>
      </p:sp>
      <p:pic>
        <p:nvPicPr>
          <p:cNvPr id="37" name="Image 8" descr="preencoded.png"/>
          <p:cNvPicPr>
            <a:picLocks noChangeAspect="1"/>
          </p:cNvPicPr>
          <p:nvPr/>
        </p:nvPicPr>
        <p:blipFill>
          <a:blip r:embed="rId10"/>
          <a:stretch>
            <a:fillRect/>
          </a:stretch>
        </p:blipFill>
        <p:spPr>
          <a:xfrm>
            <a:off x="6313932" y="3278124"/>
            <a:ext cx="192024" cy="192024"/>
          </a:xfrm>
          <a:prstGeom prst="rect">
            <a:avLst/>
          </a:prstGeom>
        </p:spPr>
      </p:pic>
      <p:sp>
        <p:nvSpPr>
          <p:cNvPr id="38" name="Text 27"/>
          <p:cNvSpPr txBox="1"/>
          <p:nvPr/>
        </p:nvSpPr>
        <p:spPr>
          <a:xfrm>
            <a:off x="6720840" y="3182112"/>
            <a:ext cx="1874520" cy="384048"/>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No packaged credentials</a:t>
            </a:r>
            <a:endParaRPr lang="en-US" sz="1350" dirty="0"/>
          </a:p>
        </p:txBody>
      </p:sp>
      <p:sp>
        <p:nvSpPr>
          <p:cNvPr id="39" name="Text 28"/>
          <p:cNvSpPr txBox="1"/>
          <p:nvPr/>
        </p:nvSpPr>
        <p:spPr>
          <a:xfrm>
            <a:off x="6217920" y="3703320"/>
            <a:ext cx="2331720" cy="77724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The MSI carries the executable only. Jira configuration is created locally during setup.</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0E9F9A"/>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0B1F3A"/>
                </a:solidFill>
                <a:latin typeface="Calibri" pitchFamily="34" charset="0"/>
                <a:ea typeface="Calibri" pitchFamily="34" charset="-122"/>
                <a:cs typeface="Calibri" pitchFamily="34" charset="-120"/>
              </a:rPr>
              <a:t>Architecture</a:t>
            </a:r>
            <a:endParaRPr lang="en-US" sz="3400" dirty="0"/>
          </a:p>
        </p:txBody>
      </p:sp>
      <p:sp>
        <p:nvSpPr>
          <p:cNvPr id="4" name="Text 2"/>
          <p:cNvSpPr txBox="1"/>
          <p:nvPr/>
        </p:nvSpPr>
        <p:spPr>
          <a:xfrm>
            <a:off x="457200" y="4773168"/>
            <a:ext cx="3657600" cy="182880"/>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AIST Git Validator</a:t>
            </a:r>
            <a:endParaRPr lang="en-US" sz="900" dirty="0"/>
          </a:p>
        </p:txBody>
      </p:sp>
      <p:sp>
        <p:nvSpPr>
          <p:cNvPr id="5" name="Text 3"/>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5B6B82"/>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325880"/>
            <a:ext cx="5394960" cy="3200400"/>
          </a:xfrm>
          <a:prstGeom prst="roundRect">
            <a:avLst>
              <a:gd name="adj" fmla="val 2857"/>
            </a:avLst>
          </a:prstGeom>
          <a:solidFill>
            <a:srgbClr val="EEF3F9"/>
          </a:solidFill>
          <a:ln w="9525">
            <a:solidFill>
              <a:srgbClr val="BCC9DA"/>
            </a:solidFill>
            <a:prstDash val="solid"/>
          </a:ln>
        </p:spPr>
        <p:txBody>
          <a:bodyPr/>
          <a:lstStyle/>
          <a:p>
            <a:endParaRPr lang="en-US"/>
          </a:p>
        </p:txBody>
      </p:sp>
      <p:sp>
        <p:nvSpPr>
          <p:cNvPr id="7" name="Text 5"/>
          <p:cNvSpPr txBox="1"/>
          <p:nvPr/>
        </p:nvSpPr>
        <p:spPr>
          <a:xfrm>
            <a:off x="685800" y="1463040"/>
            <a:ext cx="27432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Developer Machine</a:t>
            </a:r>
            <a:endParaRPr lang="en-US" sz="1300" dirty="0"/>
          </a:p>
        </p:txBody>
      </p:sp>
      <p:sp>
        <p:nvSpPr>
          <p:cNvPr id="8" name="Shape 6"/>
          <p:cNvSpPr/>
          <p:nvPr/>
        </p:nvSpPr>
        <p:spPr>
          <a:xfrm>
            <a:off x="6903720" y="1325880"/>
            <a:ext cx="1783080" cy="2011680"/>
          </a:xfrm>
          <a:prstGeom prst="roundRect">
            <a:avLst>
              <a:gd name="adj" fmla="val 5128"/>
            </a:avLst>
          </a:prstGeom>
          <a:solidFill>
            <a:srgbClr val="EEF3F9"/>
          </a:solidFill>
          <a:ln w="9525">
            <a:solidFill>
              <a:srgbClr val="BCC9DA"/>
            </a:solidFill>
            <a:prstDash val="solid"/>
          </a:ln>
        </p:spPr>
        <p:txBody>
          <a:bodyPr/>
          <a:lstStyle/>
          <a:p>
            <a:endParaRPr lang="en-US"/>
          </a:p>
        </p:txBody>
      </p:sp>
      <p:sp>
        <p:nvSpPr>
          <p:cNvPr id="9" name="Text 7"/>
          <p:cNvSpPr txBox="1"/>
          <p:nvPr/>
        </p:nvSpPr>
        <p:spPr>
          <a:xfrm>
            <a:off x="7086600" y="1463040"/>
            <a:ext cx="146304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Jira Cloud</a:t>
            </a:r>
            <a:endParaRPr lang="en-US" sz="1300" dirty="0"/>
          </a:p>
        </p:txBody>
      </p:sp>
      <p:sp>
        <p:nvSpPr>
          <p:cNvPr id="10" name="Shape 8"/>
          <p:cNvSpPr/>
          <p:nvPr/>
        </p:nvSpPr>
        <p:spPr>
          <a:xfrm>
            <a:off x="685800" y="1920240"/>
            <a:ext cx="1417320" cy="1188720"/>
          </a:xfrm>
          <a:prstGeom prst="roundRect">
            <a:avLst>
              <a:gd name="adj" fmla="val 6154"/>
            </a:avLst>
          </a:prstGeom>
          <a:solidFill>
            <a:srgbClr val="FFFFFF"/>
          </a:solidFill>
          <a:ln w="9525">
            <a:solidFill>
              <a:srgbClr val="D5DDE8"/>
            </a:solidFill>
            <a:prstDash val="solid"/>
          </a:ln>
        </p:spPr>
        <p:txBody>
          <a:bodyPr/>
          <a:lstStyle/>
          <a:p>
            <a:endParaRPr lang="en-US"/>
          </a:p>
        </p:txBody>
      </p:sp>
      <p:sp>
        <p:nvSpPr>
          <p:cNvPr id="11" name="Shape 9"/>
          <p:cNvSpPr/>
          <p:nvPr/>
        </p:nvSpPr>
        <p:spPr>
          <a:xfrm>
            <a:off x="822960" y="2057400"/>
            <a:ext cx="411480" cy="411480"/>
          </a:xfrm>
          <a:prstGeom prst="ellipse">
            <a:avLst/>
          </a:prstGeom>
          <a:solidFill>
            <a:srgbClr val="0E9F9A"/>
          </a:solidFill>
          <a:ln w="12700">
            <a:solidFill>
              <a:srgbClr val="0E9F9A"/>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925830" y="2160270"/>
            <a:ext cx="205740" cy="205740"/>
          </a:xfrm>
          <a:prstGeom prst="rect">
            <a:avLst/>
          </a:prstGeom>
        </p:spPr>
      </p:pic>
      <p:sp>
        <p:nvSpPr>
          <p:cNvPr id="13" name="Text 10"/>
          <p:cNvSpPr txBox="1"/>
          <p:nvPr/>
        </p:nvSpPr>
        <p:spPr>
          <a:xfrm>
            <a:off x="777240" y="2560320"/>
            <a:ext cx="1234440" cy="38404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Git</a:t>
            </a:r>
            <a:endParaRPr lang="en-US" sz="1200" dirty="0"/>
          </a:p>
        </p:txBody>
      </p:sp>
      <p:sp>
        <p:nvSpPr>
          <p:cNvPr id="14" name="Text 11"/>
          <p:cNvSpPr txBox="1"/>
          <p:nvPr/>
        </p:nvSpPr>
        <p:spPr>
          <a:xfrm>
            <a:off x="777240" y="2816352"/>
            <a:ext cx="1234440" cy="201168"/>
          </a:xfrm>
          <a:prstGeom prst="rect">
            <a:avLst/>
          </a:prstGeom>
          <a:noFill/>
          <a:ln/>
        </p:spPr>
        <p:txBody>
          <a:bodyPr wrap="square" lIns="0" tIns="0" rIns="0" bIns="0" rtlCol="0" anchor="t"/>
          <a:lstStyle/>
          <a:p>
            <a:pPr marL="0" indent="0">
              <a:buNone/>
            </a:pPr>
            <a:r>
              <a:rPr lang="en-US" sz="1000" dirty="0">
                <a:solidFill>
                  <a:srgbClr val="5B6B82"/>
                </a:solidFill>
                <a:latin typeface="Courier New" pitchFamily="34" charset="0"/>
                <a:ea typeface="Courier New" pitchFamily="34" charset="-122"/>
                <a:cs typeface="Courier New" pitchFamily="34" charset="-120"/>
              </a:rPr>
              <a:t>git commit</a:t>
            </a:r>
            <a:endParaRPr lang="en-US" sz="1000" dirty="0"/>
          </a:p>
        </p:txBody>
      </p:sp>
      <p:sp>
        <p:nvSpPr>
          <p:cNvPr id="15" name="Shape 12"/>
          <p:cNvSpPr/>
          <p:nvPr/>
        </p:nvSpPr>
        <p:spPr>
          <a:xfrm>
            <a:off x="2377440" y="1920240"/>
            <a:ext cx="1417320" cy="1188720"/>
          </a:xfrm>
          <a:prstGeom prst="roundRect">
            <a:avLst>
              <a:gd name="adj" fmla="val 6154"/>
            </a:avLst>
          </a:prstGeom>
          <a:solidFill>
            <a:srgbClr val="FFFFFF"/>
          </a:solidFill>
          <a:ln w="9525">
            <a:solidFill>
              <a:srgbClr val="D5DDE8"/>
            </a:solidFill>
            <a:prstDash val="solid"/>
          </a:ln>
        </p:spPr>
        <p:txBody>
          <a:bodyPr/>
          <a:lstStyle/>
          <a:p>
            <a:endParaRPr lang="en-US"/>
          </a:p>
        </p:txBody>
      </p:sp>
      <p:sp>
        <p:nvSpPr>
          <p:cNvPr id="16" name="Shape 13"/>
          <p:cNvSpPr/>
          <p:nvPr/>
        </p:nvSpPr>
        <p:spPr>
          <a:xfrm>
            <a:off x="2514600" y="2057400"/>
            <a:ext cx="411480" cy="411480"/>
          </a:xfrm>
          <a:prstGeom prst="ellipse">
            <a:avLst/>
          </a:prstGeom>
          <a:solidFill>
            <a:srgbClr val="0E9F9A"/>
          </a:solidFill>
          <a:ln w="12700">
            <a:solidFill>
              <a:srgbClr val="0E9F9A"/>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2617470" y="2160270"/>
            <a:ext cx="205740" cy="205740"/>
          </a:xfrm>
          <a:prstGeom prst="rect">
            <a:avLst/>
          </a:prstGeom>
        </p:spPr>
      </p:pic>
      <p:sp>
        <p:nvSpPr>
          <p:cNvPr id="18" name="Text 14"/>
          <p:cNvSpPr txBox="1"/>
          <p:nvPr/>
        </p:nvSpPr>
        <p:spPr>
          <a:xfrm>
            <a:off x="2468880" y="2560320"/>
            <a:ext cx="1234440" cy="38404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commit-msg hook</a:t>
            </a:r>
            <a:endParaRPr lang="en-US" sz="1200" dirty="0"/>
          </a:p>
        </p:txBody>
      </p:sp>
      <p:sp>
        <p:nvSpPr>
          <p:cNvPr id="19" name="Text 15"/>
          <p:cNvSpPr txBox="1"/>
          <p:nvPr/>
        </p:nvSpPr>
        <p:spPr>
          <a:xfrm>
            <a:off x="2468880" y="2816352"/>
            <a:ext cx="1234440" cy="201168"/>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Global hook</a:t>
            </a:r>
            <a:endParaRPr lang="en-US" sz="1000" dirty="0"/>
          </a:p>
        </p:txBody>
      </p:sp>
      <p:sp>
        <p:nvSpPr>
          <p:cNvPr id="20" name="Shape 16"/>
          <p:cNvSpPr/>
          <p:nvPr/>
        </p:nvSpPr>
        <p:spPr>
          <a:xfrm>
            <a:off x="4069080" y="1920240"/>
            <a:ext cx="1417320" cy="1188720"/>
          </a:xfrm>
          <a:prstGeom prst="roundRect">
            <a:avLst>
              <a:gd name="adj" fmla="val 6154"/>
            </a:avLst>
          </a:prstGeom>
          <a:solidFill>
            <a:srgbClr val="FFFFFF"/>
          </a:solidFill>
          <a:ln w="9525">
            <a:solidFill>
              <a:srgbClr val="D5DDE8"/>
            </a:solidFill>
            <a:prstDash val="solid"/>
          </a:ln>
        </p:spPr>
        <p:txBody>
          <a:bodyPr/>
          <a:lstStyle/>
          <a:p>
            <a:endParaRPr lang="en-US"/>
          </a:p>
        </p:txBody>
      </p:sp>
      <p:sp>
        <p:nvSpPr>
          <p:cNvPr id="21" name="Shape 17"/>
          <p:cNvSpPr/>
          <p:nvPr/>
        </p:nvSpPr>
        <p:spPr>
          <a:xfrm>
            <a:off x="4206240" y="2057400"/>
            <a:ext cx="411480" cy="411480"/>
          </a:xfrm>
          <a:prstGeom prst="ellipse">
            <a:avLst/>
          </a:prstGeom>
          <a:solidFill>
            <a:srgbClr val="0E9F9A"/>
          </a:solidFill>
          <a:ln w="12700">
            <a:solidFill>
              <a:srgbClr val="0E9F9A"/>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4309110" y="2160270"/>
            <a:ext cx="205740" cy="205740"/>
          </a:xfrm>
          <a:prstGeom prst="rect">
            <a:avLst/>
          </a:prstGeom>
        </p:spPr>
      </p:pic>
      <p:sp>
        <p:nvSpPr>
          <p:cNvPr id="23" name="Text 18"/>
          <p:cNvSpPr txBox="1"/>
          <p:nvPr/>
        </p:nvSpPr>
        <p:spPr>
          <a:xfrm>
            <a:off x="4160520" y="2560320"/>
            <a:ext cx="1234440" cy="38404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aistctl</a:t>
            </a:r>
            <a:endParaRPr lang="en-US" sz="1200" dirty="0"/>
          </a:p>
        </p:txBody>
      </p:sp>
      <p:sp>
        <p:nvSpPr>
          <p:cNvPr id="24" name="Text 19"/>
          <p:cNvSpPr txBox="1"/>
          <p:nvPr/>
        </p:nvSpPr>
        <p:spPr>
          <a:xfrm>
            <a:off x="4160520" y="2816352"/>
            <a:ext cx="1234440" cy="201168"/>
          </a:xfrm>
          <a:prstGeom prst="rect">
            <a:avLst/>
          </a:prstGeom>
          <a:noFill/>
          <a:ln/>
        </p:spPr>
        <p:txBody>
          <a:bodyPr wrap="square" lIns="0" tIns="0" rIns="0" bIns="0" rtlCol="0" anchor="t"/>
          <a:lstStyle/>
          <a:p>
            <a:pPr marL="0" indent="0">
              <a:buNone/>
            </a:pPr>
            <a:r>
              <a:rPr lang="en-US" sz="1000" dirty="0">
                <a:solidFill>
                  <a:srgbClr val="5B6B82"/>
                </a:solidFill>
                <a:latin typeface="Courier New" pitchFamily="34" charset="0"/>
                <a:ea typeface="Courier New" pitchFamily="34" charset="-122"/>
                <a:cs typeface="Courier New" pitchFamily="34" charset="-120"/>
              </a:rPr>
              <a:t>validate-commit</a:t>
            </a:r>
            <a:endParaRPr lang="en-US" sz="1000" dirty="0"/>
          </a:p>
        </p:txBody>
      </p:sp>
      <p:sp>
        <p:nvSpPr>
          <p:cNvPr id="25" name="Shape 20"/>
          <p:cNvSpPr/>
          <p:nvPr/>
        </p:nvSpPr>
        <p:spPr>
          <a:xfrm>
            <a:off x="7040880" y="1920240"/>
            <a:ext cx="1508760" cy="1188720"/>
          </a:xfrm>
          <a:prstGeom prst="roundRect">
            <a:avLst>
              <a:gd name="adj" fmla="val 6154"/>
            </a:avLst>
          </a:prstGeom>
          <a:solidFill>
            <a:srgbClr val="FFFFFF"/>
          </a:solidFill>
          <a:ln w="9525">
            <a:solidFill>
              <a:srgbClr val="D5DDE8"/>
            </a:solidFill>
            <a:prstDash val="solid"/>
          </a:ln>
        </p:spPr>
        <p:txBody>
          <a:bodyPr/>
          <a:lstStyle/>
          <a:p>
            <a:endParaRPr lang="en-US"/>
          </a:p>
        </p:txBody>
      </p:sp>
      <p:sp>
        <p:nvSpPr>
          <p:cNvPr id="26" name="Shape 21"/>
          <p:cNvSpPr/>
          <p:nvPr/>
        </p:nvSpPr>
        <p:spPr>
          <a:xfrm>
            <a:off x="7178040" y="2057400"/>
            <a:ext cx="411480" cy="411480"/>
          </a:xfrm>
          <a:prstGeom prst="ellipse">
            <a:avLst/>
          </a:prstGeom>
          <a:solidFill>
            <a:srgbClr val="0E9F9A"/>
          </a:solidFill>
          <a:ln w="12700">
            <a:solidFill>
              <a:srgbClr val="0E9F9A"/>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7280910" y="2160270"/>
            <a:ext cx="205740" cy="205740"/>
          </a:xfrm>
          <a:prstGeom prst="rect">
            <a:avLst/>
          </a:prstGeom>
        </p:spPr>
      </p:pic>
      <p:sp>
        <p:nvSpPr>
          <p:cNvPr id="28" name="Text 22"/>
          <p:cNvSpPr txBox="1"/>
          <p:nvPr/>
        </p:nvSpPr>
        <p:spPr>
          <a:xfrm>
            <a:off x="7132320" y="2560320"/>
            <a:ext cx="1325880" cy="38404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Jira REST API</a:t>
            </a:r>
            <a:endParaRPr lang="en-US" sz="1200" dirty="0"/>
          </a:p>
        </p:txBody>
      </p:sp>
      <p:sp>
        <p:nvSpPr>
          <p:cNvPr id="29" name="Shape 23"/>
          <p:cNvSpPr/>
          <p:nvPr/>
        </p:nvSpPr>
        <p:spPr>
          <a:xfrm>
            <a:off x="4069080" y="3383280"/>
            <a:ext cx="1417320" cy="960120"/>
          </a:xfrm>
          <a:prstGeom prst="roundRect">
            <a:avLst>
              <a:gd name="adj" fmla="val 7619"/>
            </a:avLst>
          </a:prstGeom>
          <a:solidFill>
            <a:srgbClr val="FFFFFF"/>
          </a:solidFill>
          <a:ln w="9525">
            <a:solidFill>
              <a:srgbClr val="D5DDE8"/>
            </a:solidFill>
            <a:prstDash val="solid"/>
          </a:ln>
        </p:spPr>
        <p:txBody>
          <a:bodyPr/>
          <a:lstStyle/>
          <a:p>
            <a:endParaRPr lang="en-US"/>
          </a:p>
        </p:txBody>
      </p:sp>
      <p:sp>
        <p:nvSpPr>
          <p:cNvPr id="30" name="Shape 24"/>
          <p:cNvSpPr/>
          <p:nvPr/>
        </p:nvSpPr>
        <p:spPr>
          <a:xfrm>
            <a:off x="4206240" y="3493008"/>
            <a:ext cx="365760" cy="365760"/>
          </a:xfrm>
          <a:prstGeom prst="ellipse">
            <a:avLst/>
          </a:prstGeom>
          <a:solidFill>
            <a:srgbClr val="0E9F9A"/>
          </a:solidFill>
          <a:ln w="12700">
            <a:solidFill>
              <a:srgbClr val="0E9F9A"/>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4297680" y="3584448"/>
            <a:ext cx="182880" cy="182880"/>
          </a:xfrm>
          <a:prstGeom prst="rect">
            <a:avLst/>
          </a:prstGeom>
        </p:spPr>
      </p:pic>
      <p:sp>
        <p:nvSpPr>
          <p:cNvPr id="32" name="Text 25"/>
          <p:cNvSpPr txBox="1"/>
          <p:nvPr/>
        </p:nvSpPr>
        <p:spPr>
          <a:xfrm>
            <a:off x="4160520" y="3913632"/>
            <a:ext cx="1280160" cy="36576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AIST configuration</a:t>
            </a:r>
            <a:endParaRPr lang="en-US" sz="1100" dirty="0"/>
          </a:p>
        </p:txBody>
      </p:sp>
      <p:sp>
        <p:nvSpPr>
          <p:cNvPr id="33" name="Text 26"/>
          <p:cNvSpPr txBox="1"/>
          <p:nvPr/>
        </p:nvSpPr>
        <p:spPr>
          <a:xfrm>
            <a:off x="2194560" y="3566160"/>
            <a:ext cx="1737360" cy="548640"/>
          </a:xfrm>
          <a:prstGeom prst="rect">
            <a:avLst/>
          </a:prstGeom>
          <a:noFill/>
          <a:ln/>
        </p:spPr>
        <p:txBody>
          <a:bodyPr wrap="square" lIns="0" tIns="0" rIns="0" bIns="0" rtlCol="0" anchor="t"/>
          <a:lstStyle/>
          <a:p>
            <a:pPr marL="0" indent="0" algn="r">
              <a:buNone/>
            </a:pPr>
            <a:r>
              <a:rPr lang="en-US" sz="1050" dirty="0">
                <a:solidFill>
                  <a:srgbClr val="5B6B82"/>
                </a:solidFill>
                <a:latin typeface="Calibri" pitchFamily="34" charset="0"/>
                <a:ea typeface="Calibri" pitchFamily="34" charset="-122"/>
                <a:cs typeface="Calibri" pitchFamily="34" charset="-120"/>
              </a:rPr>
              <a:t>Local settings created during setup.</a:t>
            </a:r>
            <a:endParaRPr lang="en-US" sz="1050" dirty="0"/>
          </a:p>
        </p:txBody>
      </p:sp>
      <p:sp>
        <p:nvSpPr>
          <p:cNvPr id="34" name="Shape 27"/>
          <p:cNvSpPr/>
          <p:nvPr/>
        </p:nvSpPr>
        <p:spPr>
          <a:xfrm>
            <a:off x="2130552" y="2514600"/>
            <a:ext cx="219456" cy="0"/>
          </a:xfrm>
          <a:prstGeom prst="line">
            <a:avLst/>
          </a:prstGeom>
          <a:noFill/>
          <a:ln w="22225">
            <a:solidFill>
              <a:srgbClr val="0E9F9A"/>
            </a:solidFill>
            <a:prstDash val="solid"/>
            <a:tailEnd type="triangle"/>
          </a:ln>
        </p:spPr>
        <p:txBody>
          <a:bodyPr/>
          <a:lstStyle/>
          <a:p>
            <a:endParaRPr lang="en-US"/>
          </a:p>
        </p:txBody>
      </p:sp>
      <p:sp>
        <p:nvSpPr>
          <p:cNvPr id="35" name="Shape 28"/>
          <p:cNvSpPr/>
          <p:nvPr/>
        </p:nvSpPr>
        <p:spPr>
          <a:xfrm>
            <a:off x="3822192" y="2514600"/>
            <a:ext cx="219456" cy="0"/>
          </a:xfrm>
          <a:prstGeom prst="line">
            <a:avLst/>
          </a:prstGeom>
          <a:noFill/>
          <a:ln w="22225">
            <a:solidFill>
              <a:srgbClr val="0E9F9A"/>
            </a:solidFill>
            <a:prstDash val="solid"/>
            <a:tailEnd type="triangle"/>
          </a:ln>
        </p:spPr>
        <p:txBody>
          <a:bodyPr/>
          <a:lstStyle/>
          <a:p>
            <a:endParaRPr lang="en-US"/>
          </a:p>
        </p:txBody>
      </p:sp>
      <p:sp>
        <p:nvSpPr>
          <p:cNvPr id="36" name="Shape 29"/>
          <p:cNvSpPr/>
          <p:nvPr/>
        </p:nvSpPr>
        <p:spPr>
          <a:xfrm>
            <a:off x="4777740" y="3136392"/>
            <a:ext cx="0" cy="219456"/>
          </a:xfrm>
          <a:prstGeom prst="line">
            <a:avLst/>
          </a:prstGeom>
          <a:noFill/>
          <a:ln w="22225">
            <a:solidFill>
              <a:srgbClr val="0E9F9A"/>
            </a:solidFill>
            <a:prstDash val="solid"/>
            <a:headEnd type="triangle"/>
          </a:ln>
        </p:spPr>
        <p:txBody>
          <a:bodyPr/>
          <a:lstStyle/>
          <a:p>
            <a:endParaRPr lang="en-US"/>
          </a:p>
        </p:txBody>
      </p:sp>
      <p:sp>
        <p:nvSpPr>
          <p:cNvPr id="37" name="Shape 30"/>
          <p:cNvSpPr/>
          <p:nvPr/>
        </p:nvSpPr>
        <p:spPr>
          <a:xfrm>
            <a:off x="5513832" y="2514600"/>
            <a:ext cx="1499616" cy="0"/>
          </a:xfrm>
          <a:prstGeom prst="line">
            <a:avLst/>
          </a:prstGeom>
          <a:noFill/>
          <a:ln w="22225">
            <a:solidFill>
              <a:srgbClr val="0E9F9A"/>
            </a:solidFill>
            <a:prstDash val="solid"/>
            <a:tailEnd type="triangle"/>
          </a:ln>
        </p:spPr>
        <p:txBody>
          <a:bodyPr/>
          <a:lstStyle/>
          <a:p>
            <a:endParaRPr lang="en-US"/>
          </a:p>
        </p:txBody>
      </p:sp>
      <p:sp>
        <p:nvSpPr>
          <p:cNvPr id="38" name="Text 31"/>
          <p:cNvSpPr txBox="1"/>
          <p:nvPr/>
        </p:nvSpPr>
        <p:spPr>
          <a:xfrm>
            <a:off x="5879592" y="1920240"/>
            <a:ext cx="987552" cy="502920"/>
          </a:xfrm>
          <a:prstGeom prst="rect">
            <a:avLst/>
          </a:prstGeom>
          <a:noFill/>
          <a:ln/>
        </p:spPr>
        <p:txBody>
          <a:bodyPr wrap="square" lIns="0" tIns="0" rIns="0" bIns="0" rtlCol="0" anchor="b"/>
          <a:lstStyle/>
          <a:p>
            <a:pPr marL="0" indent="0" algn="ctr">
              <a:buNone/>
            </a:pPr>
            <a:r>
              <a:rPr lang="en-US" sz="950" dirty="0">
                <a:solidFill>
                  <a:srgbClr val="5B6B82"/>
                </a:solidFill>
                <a:latin typeface="Calibri" pitchFamily="34" charset="0"/>
                <a:ea typeface="Calibri" pitchFamily="34" charset="-122"/>
                <a:cs typeface="Calibri" pitchFamily="34" charset="-120"/>
              </a:rPr>
              <a:t>Credential and issue validation</a:t>
            </a:r>
            <a:endParaRPr lang="en-US" sz="950" dirty="0"/>
          </a:p>
        </p:txBody>
      </p:sp>
      <p:sp>
        <p:nvSpPr>
          <p:cNvPr id="39" name="Shape 32"/>
          <p:cNvSpPr/>
          <p:nvPr/>
        </p:nvSpPr>
        <p:spPr>
          <a:xfrm>
            <a:off x="6446520" y="3566160"/>
            <a:ext cx="2240280" cy="960120"/>
          </a:xfrm>
          <a:prstGeom prst="roundRect">
            <a:avLst>
              <a:gd name="adj" fmla="val 7619"/>
            </a:avLst>
          </a:prstGeom>
          <a:solidFill>
            <a:srgbClr val="0B1F3A"/>
          </a:solidFill>
          <a:ln w="12700">
            <a:solidFill>
              <a:srgbClr val="0B1F3A"/>
            </a:solidFill>
            <a:prstDash val="solid"/>
          </a:ln>
        </p:spPr>
        <p:txBody>
          <a:bodyPr/>
          <a:lstStyle/>
          <a:p>
            <a:endParaRPr lang="en-US"/>
          </a:p>
        </p:txBody>
      </p:sp>
      <p:sp>
        <p:nvSpPr>
          <p:cNvPr id="40" name="Text 33"/>
          <p:cNvSpPr txBox="1"/>
          <p:nvPr/>
        </p:nvSpPr>
        <p:spPr>
          <a:xfrm>
            <a:off x="6583680" y="3566160"/>
            <a:ext cx="1965960" cy="9601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The CLI communicates directly with Jira to validate credentials and issue existence.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marL="0" indent="0">
              <a:buNone/>
            </a:pPr>
            <a:r>
              <a:rPr lang="en-US" sz="1100" b="1" kern="0" spc="200" dirty="0">
                <a:solidFill>
                  <a:srgbClr val="5EEAD4"/>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AIST Git Validator provides</a:t>
            </a:r>
            <a:endParaRPr lang="en-US" sz="3400" dirty="0"/>
          </a:p>
        </p:txBody>
      </p:sp>
      <p:sp>
        <p:nvSpPr>
          <p:cNvPr id="4" name="Shape 2"/>
          <p:cNvSpPr/>
          <p:nvPr/>
        </p:nvSpPr>
        <p:spPr>
          <a:xfrm>
            <a:off x="457200" y="1417320"/>
            <a:ext cx="4023360" cy="731520"/>
          </a:xfrm>
          <a:prstGeom prst="roundRect">
            <a:avLst>
              <a:gd name="adj" fmla="val 10000"/>
            </a:avLst>
          </a:prstGeom>
          <a:solidFill>
            <a:srgbClr val="12305A"/>
          </a:solidFill>
          <a:ln w="9525">
            <a:solidFill>
              <a:srgbClr val="1F4275"/>
            </a:solidFill>
            <a:prstDash val="solid"/>
          </a:ln>
        </p:spPr>
        <p:txBody>
          <a:bodyPr/>
          <a:lstStyle/>
          <a:p>
            <a:endParaRPr lang="en-US"/>
          </a:p>
        </p:txBody>
      </p:sp>
      <p:sp>
        <p:nvSpPr>
          <p:cNvPr id="5" name="Shape 3"/>
          <p:cNvSpPr/>
          <p:nvPr/>
        </p:nvSpPr>
        <p:spPr>
          <a:xfrm>
            <a:off x="640080" y="1563624"/>
            <a:ext cx="438912" cy="438912"/>
          </a:xfrm>
          <a:prstGeom prst="ellipse">
            <a:avLst/>
          </a:prstGeom>
          <a:solidFill>
            <a:srgbClr val="0E9F9A"/>
          </a:solidFill>
          <a:ln w="12700">
            <a:solidFill>
              <a:srgbClr val="0E9F9A"/>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49808" y="1673352"/>
            <a:ext cx="219456" cy="219456"/>
          </a:xfrm>
          <a:prstGeom prst="rect">
            <a:avLst/>
          </a:prstGeom>
        </p:spPr>
      </p:pic>
      <p:sp>
        <p:nvSpPr>
          <p:cNvPr id="7" name="Text 4"/>
          <p:cNvSpPr txBox="1"/>
          <p:nvPr/>
        </p:nvSpPr>
        <p:spPr>
          <a:xfrm>
            <a:off x="1280160" y="1417320"/>
            <a:ext cx="306324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Immediate local enforcement</a:t>
            </a:r>
            <a:endParaRPr lang="en-US" sz="1500" dirty="0"/>
          </a:p>
        </p:txBody>
      </p:sp>
      <p:sp>
        <p:nvSpPr>
          <p:cNvPr id="8" name="Shape 5"/>
          <p:cNvSpPr/>
          <p:nvPr/>
        </p:nvSpPr>
        <p:spPr>
          <a:xfrm>
            <a:off x="4663440" y="1417320"/>
            <a:ext cx="4023360" cy="731520"/>
          </a:xfrm>
          <a:prstGeom prst="roundRect">
            <a:avLst>
              <a:gd name="adj" fmla="val 10000"/>
            </a:avLst>
          </a:prstGeom>
          <a:solidFill>
            <a:srgbClr val="12305A"/>
          </a:solidFill>
          <a:ln w="9525">
            <a:solidFill>
              <a:srgbClr val="1F4275"/>
            </a:solidFill>
            <a:prstDash val="solid"/>
          </a:ln>
        </p:spPr>
        <p:txBody>
          <a:bodyPr/>
          <a:lstStyle/>
          <a:p>
            <a:endParaRPr lang="en-US"/>
          </a:p>
        </p:txBody>
      </p:sp>
      <p:sp>
        <p:nvSpPr>
          <p:cNvPr id="9" name="Shape 6"/>
          <p:cNvSpPr/>
          <p:nvPr/>
        </p:nvSpPr>
        <p:spPr>
          <a:xfrm>
            <a:off x="4846320" y="1563624"/>
            <a:ext cx="438912" cy="438912"/>
          </a:xfrm>
          <a:prstGeom prst="ellipse">
            <a:avLst/>
          </a:prstGeom>
          <a:solidFill>
            <a:srgbClr val="0E9F9A"/>
          </a:solidFill>
          <a:ln w="12700">
            <a:solidFill>
              <a:srgbClr val="0E9F9A"/>
            </a:solidFill>
            <a:prstDash val="solid"/>
          </a:ln>
        </p:spPr>
        <p:txBody>
          <a:bodyPr/>
          <a:lstStyle/>
          <a:p>
            <a:endParaRPr lang="en-US"/>
          </a:p>
        </p:txBody>
      </p:sp>
      <p:pic>
        <p:nvPicPr>
          <p:cNvPr id="10" name="Image 1" descr="preencoded.png"/>
          <p:cNvPicPr>
            <a:picLocks noChangeAspect="1"/>
          </p:cNvPicPr>
          <p:nvPr/>
        </p:nvPicPr>
        <p:blipFill>
          <a:blip r:embed="rId3"/>
          <a:stretch>
            <a:fillRect/>
          </a:stretch>
        </p:blipFill>
        <p:spPr>
          <a:xfrm>
            <a:off x="4956048" y="1673352"/>
            <a:ext cx="219456" cy="219456"/>
          </a:xfrm>
          <a:prstGeom prst="rect">
            <a:avLst/>
          </a:prstGeom>
        </p:spPr>
      </p:pic>
      <p:sp>
        <p:nvSpPr>
          <p:cNvPr id="11" name="Text 7"/>
          <p:cNvSpPr txBox="1"/>
          <p:nvPr/>
        </p:nvSpPr>
        <p:spPr>
          <a:xfrm>
            <a:off x="5486400" y="1417320"/>
            <a:ext cx="306324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Jira-backed commit validation</a:t>
            </a:r>
            <a:endParaRPr lang="en-US" sz="1500" dirty="0"/>
          </a:p>
        </p:txBody>
      </p:sp>
      <p:sp>
        <p:nvSpPr>
          <p:cNvPr id="12" name="Shape 8"/>
          <p:cNvSpPr/>
          <p:nvPr/>
        </p:nvSpPr>
        <p:spPr>
          <a:xfrm>
            <a:off x="457200" y="2286000"/>
            <a:ext cx="4023360" cy="731520"/>
          </a:xfrm>
          <a:prstGeom prst="roundRect">
            <a:avLst>
              <a:gd name="adj" fmla="val 10000"/>
            </a:avLst>
          </a:prstGeom>
          <a:solidFill>
            <a:srgbClr val="12305A"/>
          </a:solidFill>
          <a:ln w="9525">
            <a:solidFill>
              <a:srgbClr val="1F4275"/>
            </a:solidFill>
            <a:prstDash val="solid"/>
          </a:ln>
        </p:spPr>
        <p:txBody>
          <a:bodyPr/>
          <a:lstStyle/>
          <a:p>
            <a:endParaRPr lang="en-US"/>
          </a:p>
        </p:txBody>
      </p:sp>
      <p:sp>
        <p:nvSpPr>
          <p:cNvPr id="13" name="Shape 9"/>
          <p:cNvSpPr/>
          <p:nvPr/>
        </p:nvSpPr>
        <p:spPr>
          <a:xfrm>
            <a:off x="640080" y="2432304"/>
            <a:ext cx="438912" cy="438912"/>
          </a:xfrm>
          <a:prstGeom prst="ellipse">
            <a:avLst/>
          </a:prstGeom>
          <a:solidFill>
            <a:srgbClr val="0E9F9A"/>
          </a:solidFill>
          <a:ln w="12700">
            <a:solidFill>
              <a:srgbClr val="0E9F9A"/>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749808" y="2542032"/>
            <a:ext cx="219456" cy="219456"/>
          </a:xfrm>
          <a:prstGeom prst="rect">
            <a:avLst/>
          </a:prstGeom>
        </p:spPr>
      </p:pic>
      <p:sp>
        <p:nvSpPr>
          <p:cNvPr id="15" name="Text 10"/>
          <p:cNvSpPr txBox="1"/>
          <p:nvPr/>
        </p:nvSpPr>
        <p:spPr>
          <a:xfrm>
            <a:off x="1280160" y="2286000"/>
            <a:ext cx="306324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Consistent developer workflow</a:t>
            </a:r>
            <a:endParaRPr lang="en-US" sz="1500" dirty="0"/>
          </a:p>
        </p:txBody>
      </p:sp>
      <p:sp>
        <p:nvSpPr>
          <p:cNvPr id="16" name="Shape 11"/>
          <p:cNvSpPr/>
          <p:nvPr/>
        </p:nvSpPr>
        <p:spPr>
          <a:xfrm>
            <a:off x="4663440" y="2286000"/>
            <a:ext cx="4023360" cy="731520"/>
          </a:xfrm>
          <a:prstGeom prst="roundRect">
            <a:avLst>
              <a:gd name="adj" fmla="val 10000"/>
            </a:avLst>
          </a:prstGeom>
          <a:solidFill>
            <a:srgbClr val="12305A"/>
          </a:solidFill>
          <a:ln w="9525">
            <a:solidFill>
              <a:srgbClr val="1F4275"/>
            </a:solidFill>
            <a:prstDash val="solid"/>
          </a:ln>
        </p:spPr>
        <p:txBody>
          <a:bodyPr/>
          <a:lstStyle/>
          <a:p>
            <a:endParaRPr lang="en-US"/>
          </a:p>
        </p:txBody>
      </p:sp>
      <p:sp>
        <p:nvSpPr>
          <p:cNvPr id="17" name="Shape 12"/>
          <p:cNvSpPr/>
          <p:nvPr/>
        </p:nvSpPr>
        <p:spPr>
          <a:xfrm>
            <a:off x="4846320" y="2432304"/>
            <a:ext cx="438912" cy="438912"/>
          </a:xfrm>
          <a:prstGeom prst="ellipse">
            <a:avLst/>
          </a:prstGeom>
          <a:solidFill>
            <a:srgbClr val="0E9F9A"/>
          </a:solidFill>
          <a:ln w="12700">
            <a:solidFill>
              <a:srgbClr val="0E9F9A"/>
            </a:solidFill>
            <a:prstDash val="solid"/>
          </a:ln>
        </p:spPr>
        <p:txBody>
          <a:bodyPr/>
          <a:lstStyle/>
          <a:p>
            <a:endParaRPr lang="en-US"/>
          </a:p>
        </p:txBody>
      </p:sp>
      <p:pic>
        <p:nvPicPr>
          <p:cNvPr id="18" name="Image 3" descr="preencoded.png"/>
          <p:cNvPicPr>
            <a:picLocks noChangeAspect="1"/>
          </p:cNvPicPr>
          <p:nvPr/>
        </p:nvPicPr>
        <p:blipFill>
          <a:blip r:embed="rId3"/>
          <a:stretch>
            <a:fillRect/>
          </a:stretch>
        </p:blipFill>
        <p:spPr>
          <a:xfrm>
            <a:off x="4956048" y="2542032"/>
            <a:ext cx="219456" cy="219456"/>
          </a:xfrm>
          <a:prstGeom prst="rect">
            <a:avLst/>
          </a:prstGeom>
        </p:spPr>
      </p:pic>
      <p:sp>
        <p:nvSpPr>
          <p:cNvPr id="19" name="Text 13"/>
          <p:cNvSpPr txBox="1"/>
          <p:nvPr/>
        </p:nvSpPr>
        <p:spPr>
          <a:xfrm>
            <a:off x="5486400" y="2286000"/>
            <a:ext cx="306324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Secure credential handling</a:t>
            </a:r>
            <a:endParaRPr lang="en-US" sz="1500" dirty="0"/>
          </a:p>
        </p:txBody>
      </p:sp>
      <p:sp>
        <p:nvSpPr>
          <p:cNvPr id="20" name="Shape 14"/>
          <p:cNvSpPr/>
          <p:nvPr/>
        </p:nvSpPr>
        <p:spPr>
          <a:xfrm>
            <a:off x="457200" y="3154680"/>
            <a:ext cx="4023360" cy="731520"/>
          </a:xfrm>
          <a:prstGeom prst="roundRect">
            <a:avLst>
              <a:gd name="adj" fmla="val 10000"/>
            </a:avLst>
          </a:prstGeom>
          <a:solidFill>
            <a:srgbClr val="12305A"/>
          </a:solidFill>
          <a:ln w="9525">
            <a:solidFill>
              <a:srgbClr val="1F4275"/>
            </a:solidFill>
            <a:prstDash val="solid"/>
          </a:ln>
        </p:spPr>
        <p:txBody>
          <a:bodyPr/>
          <a:lstStyle/>
          <a:p>
            <a:endParaRPr lang="en-US"/>
          </a:p>
        </p:txBody>
      </p:sp>
      <p:sp>
        <p:nvSpPr>
          <p:cNvPr id="21" name="Shape 15"/>
          <p:cNvSpPr/>
          <p:nvPr/>
        </p:nvSpPr>
        <p:spPr>
          <a:xfrm>
            <a:off x="640080" y="3300984"/>
            <a:ext cx="438912" cy="438912"/>
          </a:xfrm>
          <a:prstGeom prst="ellipse">
            <a:avLst/>
          </a:prstGeom>
          <a:solidFill>
            <a:srgbClr val="0E9F9A"/>
          </a:solidFill>
          <a:ln w="12700">
            <a:solidFill>
              <a:srgbClr val="0E9F9A"/>
            </a:solidFill>
            <a:prstDash val="solid"/>
          </a:ln>
        </p:spPr>
        <p:txBody>
          <a:bodyPr/>
          <a:lstStyle/>
          <a:p>
            <a:endParaRPr lang="en-US"/>
          </a:p>
        </p:txBody>
      </p:sp>
      <p:pic>
        <p:nvPicPr>
          <p:cNvPr id="22" name="Image 4" descr="preencoded.png"/>
          <p:cNvPicPr>
            <a:picLocks noChangeAspect="1"/>
          </p:cNvPicPr>
          <p:nvPr/>
        </p:nvPicPr>
        <p:blipFill>
          <a:blip r:embed="rId3"/>
          <a:stretch>
            <a:fillRect/>
          </a:stretch>
        </p:blipFill>
        <p:spPr>
          <a:xfrm>
            <a:off x="749808" y="3410712"/>
            <a:ext cx="219456" cy="219456"/>
          </a:xfrm>
          <a:prstGeom prst="rect">
            <a:avLst/>
          </a:prstGeom>
        </p:spPr>
      </p:pic>
      <p:sp>
        <p:nvSpPr>
          <p:cNvPr id="23" name="Text 16"/>
          <p:cNvSpPr txBox="1"/>
          <p:nvPr/>
        </p:nvSpPr>
        <p:spPr>
          <a:xfrm>
            <a:off x="1280160" y="3154680"/>
            <a:ext cx="306324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Simple MSI-based deployment</a:t>
            </a:r>
            <a:endParaRPr lang="en-US" sz="1500" dirty="0"/>
          </a:p>
        </p:txBody>
      </p:sp>
      <p:sp>
        <p:nvSpPr>
          <p:cNvPr id="24" name="Shape 17"/>
          <p:cNvSpPr/>
          <p:nvPr/>
        </p:nvSpPr>
        <p:spPr>
          <a:xfrm>
            <a:off x="4663440" y="3154680"/>
            <a:ext cx="4023360" cy="731520"/>
          </a:xfrm>
          <a:prstGeom prst="roundRect">
            <a:avLst>
              <a:gd name="adj" fmla="val 10000"/>
            </a:avLst>
          </a:prstGeom>
          <a:solidFill>
            <a:srgbClr val="12305A"/>
          </a:solidFill>
          <a:ln w="9525">
            <a:solidFill>
              <a:srgbClr val="1F4275"/>
            </a:solidFill>
            <a:prstDash val="solid"/>
          </a:ln>
        </p:spPr>
        <p:txBody>
          <a:bodyPr/>
          <a:lstStyle/>
          <a:p>
            <a:endParaRPr lang="en-US"/>
          </a:p>
        </p:txBody>
      </p:sp>
      <p:sp>
        <p:nvSpPr>
          <p:cNvPr id="25" name="Shape 18"/>
          <p:cNvSpPr/>
          <p:nvPr/>
        </p:nvSpPr>
        <p:spPr>
          <a:xfrm>
            <a:off x="4846320" y="3300984"/>
            <a:ext cx="438912" cy="438912"/>
          </a:xfrm>
          <a:prstGeom prst="ellipse">
            <a:avLst/>
          </a:prstGeom>
          <a:solidFill>
            <a:srgbClr val="0E9F9A"/>
          </a:solidFill>
          <a:ln w="12700">
            <a:solidFill>
              <a:srgbClr val="0E9F9A"/>
            </a:solidFill>
            <a:prstDash val="solid"/>
          </a:ln>
        </p:spPr>
        <p:txBody>
          <a:bodyPr/>
          <a:lstStyle/>
          <a:p>
            <a:endParaRPr lang="en-US"/>
          </a:p>
        </p:txBody>
      </p:sp>
      <p:pic>
        <p:nvPicPr>
          <p:cNvPr id="26" name="Image 5" descr="preencoded.png"/>
          <p:cNvPicPr>
            <a:picLocks noChangeAspect="1"/>
          </p:cNvPicPr>
          <p:nvPr/>
        </p:nvPicPr>
        <p:blipFill>
          <a:blip r:embed="rId3"/>
          <a:stretch>
            <a:fillRect/>
          </a:stretch>
        </p:blipFill>
        <p:spPr>
          <a:xfrm>
            <a:off x="4956048" y="3410712"/>
            <a:ext cx="219456" cy="219456"/>
          </a:xfrm>
          <a:prstGeom prst="rect">
            <a:avLst/>
          </a:prstGeom>
        </p:spPr>
      </p:pic>
      <p:sp>
        <p:nvSpPr>
          <p:cNvPr id="27" name="Text 19"/>
          <p:cNvSpPr txBox="1"/>
          <p:nvPr/>
        </p:nvSpPr>
        <p:spPr>
          <a:xfrm>
            <a:off x="5486400" y="3154680"/>
            <a:ext cx="306324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foundation for future centralized GitHub enforcement</a:t>
            </a:r>
            <a:endParaRPr lang="en-US" sz="1500" dirty="0"/>
          </a:p>
        </p:txBody>
      </p:sp>
      <p:sp>
        <p:nvSpPr>
          <p:cNvPr id="28" name="Text 20"/>
          <p:cNvSpPr txBox="1"/>
          <p:nvPr/>
        </p:nvSpPr>
        <p:spPr>
          <a:xfrm>
            <a:off x="457200" y="4206240"/>
            <a:ext cx="8229600" cy="365760"/>
          </a:xfrm>
          <a:prstGeom prst="rect">
            <a:avLst/>
          </a:prstGeom>
          <a:noFill/>
          <a:ln/>
        </p:spPr>
        <p:txBody>
          <a:bodyPr wrap="square" lIns="0" tIns="0" rIns="0" bIns="0" rtlCol="0" anchor="t"/>
          <a:lstStyle/>
          <a:p>
            <a:pPr marL="0" indent="0">
              <a:buNone/>
            </a:pPr>
            <a:r>
              <a:rPr lang="en-US" sz="1600" i="1" dirty="0">
                <a:solidFill>
                  <a:srgbClr val="5EEAD4"/>
                </a:solidFill>
                <a:latin typeface="Calibri" pitchFamily="34" charset="0"/>
                <a:ea typeface="Calibri" pitchFamily="34" charset="-122"/>
                <a:cs typeface="Calibri" pitchFamily="34" charset="-120"/>
              </a:rPr>
              <a:t>Make Jira traceability a development guardrail rather than a manual process.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1617</Words>
  <Application>Microsoft Office PowerPoint</Application>
  <PresentationFormat>On-screen Show (16:9)</PresentationFormat>
  <Paragraphs>256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AIST Git Validator - Jira Commit Guardrail Enforcement</dc:title>
  <dc:subject>PptxGenJS Presentation</dc:subject>
  <dc:creator>AIST Engineering</dc:creator>
  <cp:lastModifiedBy>CAL Office</cp:lastModifiedBy>
  <cp:revision>2</cp:revision>
  <dcterms:created xsi:type="dcterms:W3CDTF">2026-09-28T09:19:22Z</dcterms:created>
  <dcterms:modified xsi:type="dcterms:W3CDTF">2026-09-28T10:34:16Z</dcterms:modified>
</cp:coreProperties>
</file>